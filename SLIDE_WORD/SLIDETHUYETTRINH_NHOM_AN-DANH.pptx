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8288000" cy="10287000"/>
  <p:notesSz cx="6858000" cy="9144000"/>
  <p:embeddedFontLst>
    <p:embeddedFont>
      <p:font typeface="DejaVu Serif Bold" panose="020B0604020202020204" charset="0"/>
      <p:regular r:id="rId25"/>
    </p:embeddedFont>
    <p:embeddedFont>
      <p:font typeface="Faustina" panose="020B0604020202020204" charset="0"/>
      <p:regular r:id="rId26"/>
    </p:embeddedFont>
    <p:embeddedFont>
      <p:font typeface="Faustina Bold" panose="020B0604020202020204" charset="0"/>
      <p:regular r:id="rId27"/>
    </p:embeddedFont>
    <p:embeddedFont>
      <p:font typeface="Noto Sans Bold" panose="020B0604020202020204" charset="0"/>
      <p:regular r:id="rId28"/>
    </p:embeddedFont>
    <p:embeddedFont>
      <p:font typeface="Noto Serif Display Bold Italics" panose="020B0604020202020204"/>
      <p:regular r:id="rId29"/>
    </p:embeddedFont>
    <p:embeddedFont>
      <p:font typeface="Noto Serif Display Italics" panose="020B0604020202020204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22" autoAdjust="0"/>
  </p:normalViewPr>
  <p:slideViewPr>
    <p:cSldViewPr>
      <p:cViewPr varScale="1">
        <p:scale>
          <a:sx n="70" d="100"/>
          <a:sy n="70" d="100"/>
        </p:scale>
        <p:origin x="798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onataslaw/getx" TargetMode="External"/><Relationship Id="rId2" Type="http://schemas.openxmlformats.org/officeDocument/2006/relationships/hyperlink" Target="https://github.com/SinaSys/flutter_ecommerce_app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github.com/edilsonmatola/habitual-ecommerce-app-getx" TargetMode="External"/><Relationship Id="rId4" Type="http://schemas.openxmlformats.org/officeDocument/2006/relationships/hyperlink" Target="https://github.com/afgprogrammer/Flutter-ecommerce-app-with-getx" TargetMode="Externa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"/>
            <a:chOff x="0" y="0"/>
            <a:chExt cx="4816593" cy="2709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70933"/>
            </a:xfrm>
            <a:custGeom>
              <a:avLst/>
              <a:gdLst/>
              <a:ahLst/>
              <a:cxnLst/>
              <a:rect l="l" t="t" r="r" b="b"/>
              <a:pathLst>
                <a:path w="4816592" h="270933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94B1C6"/>
            </a:solidFill>
          </p:spPr>
          <p:txBody>
            <a:bodyPr/>
            <a:lstStyle/>
            <a:p>
              <a:endParaRPr lang="vi-V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816593" cy="2995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846827" y="709224"/>
            <a:ext cx="1411252" cy="1411252"/>
          </a:xfrm>
          <a:custGeom>
            <a:avLst/>
            <a:gdLst/>
            <a:ahLst/>
            <a:cxnLst/>
            <a:rect l="l" t="t" r="r" b="b"/>
            <a:pathLst>
              <a:path w="1411252" h="1411252">
                <a:moveTo>
                  <a:pt x="0" y="0"/>
                </a:moveTo>
                <a:lnTo>
                  <a:pt x="1411252" y="0"/>
                </a:lnTo>
                <a:lnTo>
                  <a:pt x="1411252" y="1411252"/>
                </a:lnTo>
                <a:lnTo>
                  <a:pt x="0" y="14112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6" name="TextBox 6"/>
          <p:cNvSpPr txBox="1"/>
          <p:nvPr/>
        </p:nvSpPr>
        <p:spPr>
          <a:xfrm>
            <a:off x="5523647" y="6972392"/>
            <a:ext cx="7560181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323232"/>
                </a:solidFill>
                <a:latin typeface="Faustina"/>
                <a:ea typeface="Faustina"/>
                <a:cs typeface="Faustina"/>
                <a:sym typeface="Faustina"/>
              </a:rPr>
              <a:t>Nhóm: - Phan Văn Danh - 106220212</a:t>
            </a:r>
          </a:p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323232"/>
                </a:solidFill>
                <a:latin typeface="Faustina"/>
                <a:ea typeface="Faustina"/>
                <a:cs typeface="Faustina"/>
                <a:sym typeface="Faustina"/>
              </a:rPr>
              <a:t>               - Nguyễn Hồng Ân -106220208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580691" y="1028700"/>
            <a:ext cx="3441704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00"/>
              </a:lnSpc>
              <a:spcBef>
                <a:spcPct val="0"/>
              </a:spcBef>
            </a:pPr>
            <a:r>
              <a:rPr lang="en-US" sz="2500">
                <a:solidFill>
                  <a:srgbClr val="323232"/>
                </a:solidFill>
                <a:latin typeface="Faustina"/>
                <a:ea typeface="Faustina"/>
                <a:cs typeface="Faustina"/>
                <a:sym typeface="Faustina"/>
              </a:rPr>
              <a:t>ĐẠI HỌC ĐÀ NẴNG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52453" y="1414850"/>
            <a:ext cx="7240705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Faustina Bold"/>
                <a:ea typeface="Faustina Bold"/>
                <a:cs typeface="Faustina Bold"/>
                <a:sym typeface="Faustina Bold"/>
              </a:rPr>
              <a:t>TRƯỜNG ĐẠI HỌC BÁCH KHOA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330905" y="3643844"/>
            <a:ext cx="7240705" cy="676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99"/>
              </a:lnSpc>
              <a:spcBef>
                <a:spcPct val="0"/>
              </a:spcBef>
            </a:pPr>
            <a:r>
              <a:rPr lang="en-US" sz="4499" b="1">
                <a:solidFill>
                  <a:srgbClr val="000000"/>
                </a:solidFill>
                <a:latin typeface="Faustina Bold"/>
                <a:ea typeface="Faustina Bold"/>
                <a:cs typeface="Faustina Bold"/>
                <a:sym typeface="Faustina Bold"/>
              </a:rPr>
              <a:t>Khoa Điện tử viễn thông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330905" y="4320119"/>
            <a:ext cx="7240705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500" b="1">
                <a:solidFill>
                  <a:srgbClr val="000000"/>
                </a:solidFill>
                <a:latin typeface="Faustina Bold"/>
                <a:ea typeface="Faustina Bold"/>
                <a:cs typeface="Faustina Bold"/>
                <a:sym typeface="Faustina Bold"/>
              </a:rPr>
              <a:t>Môn: Lập trình đa nền tảng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523647" y="5015628"/>
            <a:ext cx="7240705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GVHD:  TS. Nguyễn Duy Nhật Viễn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301543" y="5939553"/>
            <a:ext cx="9924303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Đề tài: GetX - State Management và Navigation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"/>
            <a:chOff x="0" y="0"/>
            <a:chExt cx="4816593" cy="2709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70933"/>
            </a:xfrm>
            <a:custGeom>
              <a:avLst/>
              <a:gdLst/>
              <a:ahLst/>
              <a:cxnLst/>
              <a:rect l="l" t="t" r="r" b="b"/>
              <a:pathLst>
                <a:path w="4816592" h="270933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94B1C6"/>
            </a:solidFill>
          </p:spPr>
          <p:txBody>
            <a:bodyPr/>
            <a:lstStyle/>
            <a:p>
              <a:endParaRPr lang="vi-V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816593" cy="2995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8133719" y="5496486"/>
            <a:ext cx="8782412" cy="3524445"/>
          </a:xfrm>
          <a:custGeom>
            <a:avLst/>
            <a:gdLst/>
            <a:ahLst/>
            <a:cxnLst/>
            <a:rect l="l" t="t" r="r" b="b"/>
            <a:pathLst>
              <a:path w="8782412" h="3524445">
                <a:moveTo>
                  <a:pt x="0" y="0"/>
                </a:moveTo>
                <a:lnTo>
                  <a:pt x="8782412" y="0"/>
                </a:lnTo>
                <a:lnTo>
                  <a:pt x="8782412" y="3524445"/>
                </a:lnTo>
                <a:lnTo>
                  <a:pt x="0" y="35244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6" name="TextBox 6"/>
          <p:cNvSpPr txBox="1"/>
          <p:nvPr/>
        </p:nvSpPr>
        <p:spPr>
          <a:xfrm>
            <a:off x="1142418" y="5868860"/>
            <a:ext cx="9292891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287"/>
              </a:lnSpc>
              <a:spcBef>
                <a:spcPct val="0"/>
              </a:spcBef>
            </a:pPr>
            <a:r>
              <a:rPr lang="en-US" sz="3572">
                <a:solidFill>
                  <a:srgbClr val="323232"/>
                </a:solidFill>
                <a:latin typeface="Faustina"/>
                <a:ea typeface="Faustina"/>
                <a:cs typeface="Faustina"/>
                <a:sym typeface="Faustina"/>
              </a:rPr>
              <a:t>Ứng dụng App bán hàng với GetX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46885" y="1804969"/>
            <a:ext cx="12133725" cy="3217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just">
              <a:lnSpc>
                <a:spcPts val="8306"/>
              </a:lnSpc>
              <a:spcBef>
                <a:spcPct val="0"/>
              </a:spcBef>
            </a:pPr>
            <a:r>
              <a:rPr lang="en-US" sz="8306">
                <a:solidFill>
                  <a:srgbClr val="323232"/>
                </a:solidFill>
                <a:latin typeface="Faustina"/>
                <a:ea typeface="Faustina"/>
                <a:cs typeface="Faustina"/>
                <a:sym typeface="Faustina"/>
              </a:rPr>
              <a:t>SỬ DỤNG GETX TRONG STATE MANAGEMENT VÀ NAVIGATION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46885" y="8106531"/>
            <a:ext cx="7560181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323232"/>
                </a:solidFill>
                <a:latin typeface="Faustina"/>
                <a:ea typeface="Faustina"/>
                <a:cs typeface="Faustina"/>
                <a:sym typeface="Faustina"/>
              </a:rPr>
              <a:t>Nhóm: - Phan Văn Danh &lt;106220212&gt;</a:t>
            </a:r>
          </a:p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323232"/>
                </a:solidFill>
                <a:latin typeface="Faustina"/>
                <a:ea typeface="Faustina"/>
                <a:cs typeface="Faustina"/>
                <a:sym typeface="Faustina"/>
              </a:rPr>
              <a:t>               - Nguyễn Hồng Ân &lt;106220208&gt;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254292"/>
            <a:chOff x="0" y="0"/>
            <a:chExt cx="4816593" cy="33034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30349"/>
            </a:xfrm>
            <a:custGeom>
              <a:avLst/>
              <a:gdLst/>
              <a:ahLst/>
              <a:cxnLst/>
              <a:rect l="l" t="t" r="r" b="b"/>
              <a:pathLst>
                <a:path w="4816592" h="330349">
                  <a:moveTo>
                    <a:pt x="0" y="0"/>
                  </a:moveTo>
                  <a:lnTo>
                    <a:pt x="4816592" y="0"/>
                  </a:lnTo>
                  <a:lnTo>
                    <a:pt x="4816592" y="330349"/>
                  </a:lnTo>
                  <a:lnTo>
                    <a:pt x="0" y="330349"/>
                  </a:lnTo>
                  <a:close/>
                </a:path>
              </a:pathLst>
            </a:custGeom>
            <a:solidFill>
              <a:srgbClr val="94B1C6"/>
            </a:solidFill>
          </p:spPr>
          <p:txBody>
            <a:bodyPr/>
            <a:lstStyle/>
            <a:p>
              <a:endParaRPr lang="vi-V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816593" cy="3589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026461" y="2896559"/>
            <a:ext cx="8297115" cy="2534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97889" lvl="1" indent="-298944" algn="just">
              <a:lnSpc>
                <a:spcPts val="3323"/>
              </a:lnSpc>
              <a:spcBef>
                <a:spcPct val="0"/>
              </a:spcBef>
              <a:buFont typeface="Arial"/>
              <a:buChar char="•"/>
            </a:pPr>
            <a:r>
              <a:rPr lang="en-US" sz="2769">
                <a:solidFill>
                  <a:srgbClr val="323232"/>
                </a:solidFill>
                <a:latin typeface="Faustina"/>
                <a:ea typeface="Faustina"/>
                <a:cs typeface="Faustina"/>
                <a:sym typeface="Faustina"/>
              </a:rPr>
              <a:t>H</a:t>
            </a:r>
            <a:r>
              <a:rPr lang="en-US" sz="2769" u="none" strike="noStrike">
                <a:solidFill>
                  <a:srgbClr val="323232"/>
                </a:solidFill>
                <a:latin typeface="Faustina"/>
                <a:ea typeface="Faustina"/>
                <a:cs typeface="Faustina"/>
                <a:sym typeface="Faustina"/>
              </a:rPr>
              <a:t>iểu và ứng dụng GetX trong quản lý trạng thái </a:t>
            </a:r>
          </a:p>
          <a:p>
            <a:pPr algn="just">
              <a:lnSpc>
                <a:spcPts val="3323"/>
              </a:lnSpc>
              <a:spcBef>
                <a:spcPct val="0"/>
              </a:spcBef>
            </a:pPr>
            <a:r>
              <a:rPr lang="en-US" sz="2769" u="none" strike="noStrike">
                <a:solidFill>
                  <a:srgbClr val="323232"/>
                </a:solidFill>
                <a:latin typeface="Faustina"/>
                <a:ea typeface="Faustina"/>
                <a:cs typeface="Faustina"/>
                <a:sym typeface="Faustina"/>
              </a:rPr>
              <a:t>         (state management) và điều hướng (navigation).</a:t>
            </a:r>
          </a:p>
          <a:p>
            <a:pPr marL="597889" lvl="1" indent="-298944" algn="just">
              <a:lnSpc>
                <a:spcPts val="3323"/>
              </a:lnSpc>
              <a:spcBef>
                <a:spcPct val="0"/>
              </a:spcBef>
              <a:buFont typeface="Arial"/>
              <a:buChar char="•"/>
            </a:pPr>
            <a:r>
              <a:rPr lang="en-US" sz="2769" u="none" strike="noStrike">
                <a:solidFill>
                  <a:srgbClr val="323232"/>
                </a:solidFill>
                <a:latin typeface="Faustina"/>
                <a:ea typeface="Faustina"/>
                <a:cs typeface="Faustina"/>
                <a:sym typeface="Faustina"/>
              </a:rPr>
              <a:t>Xây dựng ví dụ minh họa rõ ràng, trực quan.</a:t>
            </a:r>
          </a:p>
          <a:p>
            <a:pPr marL="597889" lvl="1" indent="-298944" algn="just">
              <a:lnSpc>
                <a:spcPts val="3323"/>
              </a:lnSpc>
              <a:spcBef>
                <a:spcPct val="0"/>
              </a:spcBef>
              <a:buFont typeface="Arial"/>
              <a:buChar char="•"/>
            </a:pPr>
            <a:r>
              <a:rPr lang="en-US" sz="2769" u="none" strike="noStrike">
                <a:solidFill>
                  <a:srgbClr val="323232"/>
                </a:solidFill>
                <a:latin typeface="Faustina"/>
                <a:ea typeface="Faustina"/>
                <a:cs typeface="Faustina"/>
                <a:sym typeface="Faustina"/>
              </a:rPr>
              <a:t>Phân tích ưu điểm về hiệu năng và các trường hợp </a:t>
            </a:r>
          </a:p>
          <a:p>
            <a:pPr algn="just">
              <a:lnSpc>
                <a:spcPts val="3323"/>
              </a:lnSpc>
              <a:spcBef>
                <a:spcPct val="0"/>
              </a:spcBef>
            </a:pPr>
            <a:r>
              <a:rPr lang="en-US" sz="2769" u="none" strike="noStrike">
                <a:solidFill>
                  <a:srgbClr val="323232"/>
                </a:solidFill>
                <a:latin typeface="Faustina"/>
                <a:ea typeface="Faustina"/>
                <a:cs typeface="Faustina"/>
                <a:sym typeface="Faustina"/>
              </a:rPr>
              <a:t>         sử dụng thực tế (use cases).</a:t>
            </a:r>
          </a:p>
          <a:p>
            <a:pPr marL="0" lvl="0" indent="0" algn="just">
              <a:lnSpc>
                <a:spcPts val="3323"/>
              </a:lnSpc>
              <a:spcBef>
                <a:spcPct val="0"/>
              </a:spcBef>
            </a:pPr>
            <a:endParaRPr lang="en-US" sz="2769" u="none" strike="noStrike">
              <a:solidFill>
                <a:srgbClr val="323232"/>
              </a:solidFill>
              <a:latin typeface="Faustina"/>
              <a:ea typeface="Faustina"/>
              <a:cs typeface="Faustina"/>
              <a:sym typeface="Faustina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20316" y="83604"/>
            <a:ext cx="12486921" cy="9727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25"/>
              </a:lnSpc>
            </a:pPr>
            <a:r>
              <a:rPr lang="en-US" sz="5661" b="1">
                <a:solidFill>
                  <a:srgbClr val="32323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1. Mục tiêu và yêu cầu của đề tài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17766" y="2081909"/>
            <a:ext cx="3594726" cy="683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42"/>
              </a:lnSpc>
            </a:pPr>
            <a:r>
              <a:rPr lang="en-US" sz="3816" b="1">
                <a:solidFill>
                  <a:srgbClr val="323232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a. Mục tiêu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026461" y="6679466"/>
            <a:ext cx="8297115" cy="2113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97889" lvl="1" indent="-298944" algn="just">
              <a:lnSpc>
                <a:spcPts val="3323"/>
              </a:lnSpc>
              <a:spcBef>
                <a:spcPct val="0"/>
              </a:spcBef>
              <a:buAutoNum type="arabicPeriod"/>
            </a:pPr>
            <a:r>
              <a:rPr lang="en-US" sz="2769">
                <a:solidFill>
                  <a:srgbClr val="323232"/>
                </a:solidFill>
                <a:latin typeface="Faustina"/>
                <a:ea typeface="Faustina"/>
                <a:cs typeface="Faustina"/>
                <a:sym typeface="Faustina"/>
              </a:rPr>
              <a:t>Sử</a:t>
            </a:r>
            <a:r>
              <a:rPr lang="en-US" sz="2769" u="none" strike="noStrike">
                <a:solidFill>
                  <a:srgbClr val="323232"/>
                </a:solidFill>
                <a:latin typeface="Faustina"/>
                <a:ea typeface="Faustina"/>
                <a:cs typeface="Faustina"/>
                <a:sym typeface="Faustina"/>
              </a:rPr>
              <a:t> dụng GetxController và Reactive Programming</a:t>
            </a:r>
          </a:p>
          <a:p>
            <a:pPr algn="just">
              <a:lnSpc>
                <a:spcPts val="3323"/>
              </a:lnSpc>
              <a:spcBef>
                <a:spcPct val="0"/>
              </a:spcBef>
            </a:pPr>
            <a:r>
              <a:rPr lang="en-US" sz="2769" u="none" strike="noStrike">
                <a:solidFill>
                  <a:srgbClr val="323232"/>
                </a:solidFill>
                <a:latin typeface="Faustina"/>
                <a:ea typeface="Faustina"/>
                <a:cs typeface="Faustina"/>
                <a:sym typeface="Faustina"/>
              </a:rPr>
              <a:t>     2. Sử dụng Obx widget và Dependency Injection</a:t>
            </a:r>
          </a:p>
          <a:p>
            <a:pPr algn="just">
              <a:lnSpc>
                <a:spcPts val="3323"/>
              </a:lnSpc>
              <a:spcBef>
                <a:spcPct val="0"/>
              </a:spcBef>
            </a:pPr>
            <a:r>
              <a:rPr lang="en-US" sz="2769" u="none" strike="noStrike">
                <a:solidFill>
                  <a:srgbClr val="323232"/>
                </a:solidFill>
                <a:latin typeface="Faustina"/>
                <a:ea typeface="Faustina"/>
                <a:cs typeface="Faustina"/>
                <a:sym typeface="Faustina"/>
              </a:rPr>
              <a:t>     3. Áp dụng GetX Routing và Navigation</a:t>
            </a:r>
          </a:p>
          <a:p>
            <a:pPr algn="just">
              <a:lnSpc>
                <a:spcPts val="3323"/>
              </a:lnSpc>
              <a:spcBef>
                <a:spcPct val="0"/>
              </a:spcBef>
            </a:pPr>
            <a:r>
              <a:rPr lang="en-US" sz="2769" u="none" strike="noStrike">
                <a:solidFill>
                  <a:srgbClr val="323232"/>
                </a:solidFill>
                <a:latin typeface="Faustina"/>
                <a:ea typeface="Faustina"/>
                <a:cs typeface="Faustina"/>
                <a:sym typeface="Faustina"/>
              </a:rPr>
              <a:t>     4. Trình bày Performance Benefits và Use Cases</a:t>
            </a:r>
          </a:p>
          <a:p>
            <a:pPr marL="0" lvl="0" indent="0" algn="just">
              <a:lnSpc>
                <a:spcPts val="3323"/>
              </a:lnSpc>
              <a:spcBef>
                <a:spcPct val="0"/>
              </a:spcBef>
            </a:pPr>
            <a:endParaRPr lang="en-US" sz="2769" u="none" strike="noStrike">
              <a:solidFill>
                <a:srgbClr val="323232"/>
              </a:solidFill>
              <a:latin typeface="Faustina"/>
              <a:ea typeface="Faustina"/>
              <a:cs typeface="Faustina"/>
              <a:sym typeface="Faustina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617766" y="5670780"/>
            <a:ext cx="5309226" cy="683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42"/>
              </a:lnSpc>
            </a:pPr>
            <a:r>
              <a:rPr lang="en-US" sz="3816" b="1">
                <a:solidFill>
                  <a:srgbClr val="323232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b. Yêu cầu cụ thể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254292"/>
            <a:chOff x="0" y="0"/>
            <a:chExt cx="4816593" cy="33034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30349"/>
            </a:xfrm>
            <a:custGeom>
              <a:avLst/>
              <a:gdLst/>
              <a:ahLst/>
              <a:cxnLst/>
              <a:rect l="l" t="t" r="r" b="b"/>
              <a:pathLst>
                <a:path w="4816592" h="330349">
                  <a:moveTo>
                    <a:pt x="0" y="0"/>
                  </a:moveTo>
                  <a:lnTo>
                    <a:pt x="4816592" y="0"/>
                  </a:lnTo>
                  <a:lnTo>
                    <a:pt x="4816592" y="330349"/>
                  </a:lnTo>
                  <a:lnTo>
                    <a:pt x="0" y="330349"/>
                  </a:lnTo>
                  <a:close/>
                </a:path>
              </a:pathLst>
            </a:custGeom>
            <a:solidFill>
              <a:srgbClr val="94B1C6"/>
            </a:solidFill>
          </p:spPr>
          <p:txBody>
            <a:bodyPr/>
            <a:lstStyle/>
            <a:p>
              <a:endParaRPr lang="vi-V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816593" cy="3589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011130" y="3029730"/>
            <a:ext cx="5770484" cy="2113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97889" lvl="1" indent="-298944" algn="just">
              <a:lnSpc>
                <a:spcPts val="3323"/>
              </a:lnSpc>
              <a:spcBef>
                <a:spcPct val="0"/>
              </a:spcBef>
              <a:buFont typeface="Arial"/>
              <a:buChar char="•"/>
            </a:pPr>
            <a:r>
              <a:rPr lang="en-US" sz="2769">
                <a:solidFill>
                  <a:srgbClr val="323232"/>
                </a:solidFill>
                <a:latin typeface="Faustina"/>
                <a:ea typeface="Faustina"/>
                <a:cs typeface="Faustina"/>
                <a:sym typeface="Faustina"/>
              </a:rPr>
              <a:t>BL</a:t>
            </a:r>
            <a:r>
              <a:rPr lang="en-US" sz="2769" u="none" strike="noStrike">
                <a:solidFill>
                  <a:srgbClr val="323232"/>
                </a:solidFill>
                <a:latin typeface="Faustina"/>
                <a:ea typeface="Faustina"/>
                <a:cs typeface="Faustina"/>
                <a:sym typeface="Faustina"/>
              </a:rPr>
              <a:t>oC (Business Logic Component)</a:t>
            </a:r>
          </a:p>
          <a:p>
            <a:pPr marL="597889" lvl="1" indent="-298944" algn="just">
              <a:lnSpc>
                <a:spcPts val="3323"/>
              </a:lnSpc>
              <a:spcBef>
                <a:spcPct val="0"/>
              </a:spcBef>
              <a:buFont typeface="Arial"/>
              <a:buChar char="•"/>
            </a:pPr>
            <a:r>
              <a:rPr lang="en-US" sz="2769" u="none" strike="noStrike">
                <a:solidFill>
                  <a:srgbClr val="323232"/>
                </a:solidFill>
                <a:latin typeface="Faustina"/>
                <a:ea typeface="Faustina"/>
                <a:cs typeface="Faustina"/>
                <a:sym typeface="Faustina"/>
              </a:rPr>
              <a:t>GetX</a:t>
            </a:r>
          </a:p>
          <a:p>
            <a:pPr marL="597889" lvl="1" indent="-298944" algn="just">
              <a:lnSpc>
                <a:spcPts val="3323"/>
              </a:lnSpc>
              <a:spcBef>
                <a:spcPct val="0"/>
              </a:spcBef>
              <a:buFont typeface="Arial"/>
              <a:buChar char="•"/>
            </a:pPr>
            <a:r>
              <a:rPr lang="en-US" sz="2769" u="none" strike="noStrike">
                <a:solidFill>
                  <a:srgbClr val="323232"/>
                </a:solidFill>
                <a:latin typeface="Faustina"/>
                <a:ea typeface="Faustina"/>
                <a:cs typeface="Faustina"/>
                <a:sym typeface="Faustina"/>
              </a:rPr>
              <a:t>Provider</a:t>
            </a:r>
          </a:p>
          <a:p>
            <a:pPr marL="597889" lvl="1" indent="-298944" algn="just">
              <a:lnSpc>
                <a:spcPts val="3323"/>
              </a:lnSpc>
              <a:spcBef>
                <a:spcPct val="0"/>
              </a:spcBef>
              <a:buFont typeface="Arial"/>
              <a:buChar char="•"/>
            </a:pPr>
            <a:r>
              <a:rPr lang="en-US" sz="2769" u="none" strike="noStrike">
                <a:solidFill>
                  <a:srgbClr val="323232"/>
                </a:solidFill>
                <a:latin typeface="Faustina"/>
                <a:ea typeface="Faustina"/>
                <a:cs typeface="Faustina"/>
                <a:sym typeface="Faustina"/>
              </a:rPr>
              <a:t>Riverpod</a:t>
            </a:r>
          </a:p>
          <a:p>
            <a:pPr marL="0" lvl="0" indent="0" algn="just">
              <a:lnSpc>
                <a:spcPts val="3323"/>
              </a:lnSpc>
              <a:spcBef>
                <a:spcPct val="0"/>
              </a:spcBef>
            </a:pPr>
            <a:endParaRPr lang="en-US" sz="2769" u="none" strike="noStrike">
              <a:solidFill>
                <a:srgbClr val="323232"/>
              </a:solidFill>
              <a:latin typeface="Faustina"/>
              <a:ea typeface="Faustina"/>
              <a:cs typeface="Faustina"/>
              <a:sym typeface="Faustina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351753" y="83604"/>
            <a:ext cx="6575239" cy="9727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25"/>
              </a:lnSpc>
            </a:pPr>
            <a:r>
              <a:rPr lang="en-US" sz="5661" b="1">
                <a:solidFill>
                  <a:srgbClr val="32323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2. Cơ sở lý thuyết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179762" y="1654984"/>
            <a:ext cx="9124639" cy="1840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30"/>
              </a:lnSpc>
            </a:pPr>
            <a:r>
              <a:rPr lang="en-US" sz="3450" b="1">
                <a:solidFill>
                  <a:srgbClr val="323232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a.Các thư viện quản lý state phổ biến nhất trong Flutter.</a:t>
            </a:r>
          </a:p>
          <a:p>
            <a:pPr algn="ctr">
              <a:lnSpc>
                <a:spcPts val="4830"/>
              </a:lnSpc>
            </a:pPr>
            <a:endParaRPr lang="en-US" sz="3450" b="1">
              <a:solidFill>
                <a:srgbClr val="323232"/>
              </a:solidFill>
              <a:latin typeface="DejaVu Serif Bold"/>
              <a:ea typeface="DejaVu Serif Bold"/>
              <a:cs typeface="DejaVu Serif Bold"/>
              <a:sym typeface="DejaVu Serif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2179762" y="5858159"/>
            <a:ext cx="11936668" cy="37971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323"/>
              </a:lnSpc>
              <a:spcBef>
                <a:spcPct val="0"/>
              </a:spcBef>
            </a:pPr>
            <a:endParaRPr/>
          </a:p>
          <a:p>
            <a:pPr algn="just">
              <a:lnSpc>
                <a:spcPts val="3323"/>
              </a:lnSpc>
              <a:spcBef>
                <a:spcPct val="0"/>
              </a:spcBef>
            </a:pPr>
            <a:endParaRPr/>
          </a:p>
          <a:p>
            <a:pPr marL="597889" lvl="1" indent="-298944" algn="just">
              <a:lnSpc>
                <a:spcPts val="3323"/>
              </a:lnSpc>
              <a:spcBef>
                <a:spcPct val="0"/>
              </a:spcBef>
              <a:buAutoNum type="arabicPeriod"/>
            </a:pPr>
            <a:r>
              <a:rPr lang="en-US" sz="2769" u="none" strike="noStrike">
                <a:solidFill>
                  <a:srgbClr val="323232"/>
                </a:solidFill>
                <a:latin typeface="Faustina"/>
                <a:ea typeface="Faustina"/>
                <a:cs typeface="Faustina"/>
                <a:sym typeface="Faustina"/>
              </a:rPr>
              <a:t>State Management – Quản lý trạng thái ứng dụng.</a:t>
            </a:r>
          </a:p>
          <a:p>
            <a:pPr marL="597889" lvl="1" indent="-298944" algn="just">
              <a:lnSpc>
                <a:spcPts val="3323"/>
              </a:lnSpc>
              <a:spcBef>
                <a:spcPct val="0"/>
              </a:spcBef>
              <a:buAutoNum type="arabicPeriod"/>
            </a:pPr>
            <a:r>
              <a:rPr lang="en-US" sz="2769" u="none" strike="noStrike">
                <a:solidFill>
                  <a:srgbClr val="323232"/>
                </a:solidFill>
                <a:latin typeface="Faustina"/>
                <a:ea typeface="Faustina"/>
                <a:cs typeface="Faustina"/>
                <a:sym typeface="Faustina"/>
              </a:rPr>
              <a:t>Dependency Injection – Quản lý các đối tượng (controller, service) dễ dàng.</a:t>
            </a:r>
          </a:p>
          <a:p>
            <a:pPr marL="597889" lvl="1" indent="-298944" algn="just">
              <a:lnSpc>
                <a:spcPts val="3323"/>
              </a:lnSpc>
              <a:spcBef>
                <a:spcPct val="0"/>
              </a:spcBef>
              <a:buAutoNum type="arabicPeriod"/>
            </a:pPr>
            <a:r>
              <a:rPr lang="en-US" sz="2769" u="none" strike="noStrike">
                <a:solidFill>
                  <a:srgbClr val="323232"/>
                </a:solidFill>
                <a:latin typeface="Faustina"/>
                <a:ea typeface="Faustina"/>
                <a:cs typeface="Faustina"/>
                <a:sym typeface="Faustina"/>
              </a:rPr>
              <a:t>Route Management – Điều hướng(routing) và quản lý các màn hình (pages).</a:t>
            </a:r>
          </a:p>
          <a:p>
            <a:pPr algn="just">
              <a:lnSpc>
                <a:spcPts val="3323"/>
              </a:lnSpc>
              <a:spcBef>
                <a:spcPct val="0"/>
              </a:spcBef>
            </a:pPr>
            <a:endParaRPr lang="en-US" sz="2769" u="none" strike="noStrike">
              <a:solidFill>
                <a:srgbClr val="323232"/>
              </a:solidFill>
              <a:latin typeface="Faustina"/>
              <a:ea typeface="Faustina"/>
              <a:cs typeface="Faustina"/>
              <a:sym typeface="Faustina"/>
            </a:endParaRPr>
          </a:p>
          <a:p>
            <a:pPr algn="just">
              <a:lnSpc>
                <a:spcPts val="3323"/>
              </a:lnSpc>
              <a:spcBef>
                <a:spcPct val="0"/>
              </a:spcBef>
            </a:pPr>
            <a:r>
              <a:rPr lang="en-US" sz="2769" u="none" strike="noStrike">
                <a:solidFill>
                  <a:srgbClr val="323232"/>
                </a:solidFill>
                <a:latin typeface="Faustina"/>
                <a:ea typeface="Faustina"/>
                <a:cs typeface="Faustina"/>
                <a:sym typeface="Faustina"/>
              </a:rPr>
              <a:t>→ Cấu trúc GetX được thiết kế nhẹ, không phụ thuộc vào BuildContext, giúp tăng hiệu năng và giảm boilerplate code.</a:t>
            </a:r>
          </a:p>
          <a:p>
            <a:pPr marL="0" lvl="0" indent="0" algn="just">
              <a:lnSpc>
                <a:spcPts val="3323"/>
              </a:lnSpc>
              <a:spcBef>
                <a:spcPct val="0"/>
              </a:spcBef>
            </a:pPr>
            <a:endParaRPr lang="en-US" sz="2769" u="none" strike="noStrike">
              <a:solidFill>
                <a:srgbClr val="323232"/>
              </a:solidFill>
              <a:latin typeface="Faustina"/>
              <a:ea typeface="Faustina"/>
              <a:cs typeface="Faustina"/>
              <a:sym typeface="Faustina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2179762" y="5067300"/>
            <a:ext cx="5820568" cy="598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30"/>
              </a:lnSpc>
            </a:pPr>
            <a:r>
              <a:rPr lang="en-US" sz="3450" b="1">
                <a:solidFill>
                  <a:srgbClr val="323232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b.Giới thiệu về GetX.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"/>
            <a:chOff x="0" y="0"/>
            <a:chExt cx="4816593" cy="2709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70933"/>
            </a:xfrm>
            <a:custGeom>
              <a:avLst/>
              <a:gdLst/>
              <a:ahLst/>
              <a:cxnLst/>
              <a:rect l="l" t="t" r="r" b="b"/>
              <a:pathLst>
                <a:path w="4816592" h="270933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94B1C6"/>
            </a:solidFill>
          </p:spPr>
          <p:txBody>
            <a:bodyPr/>
            <a:lstStyle/>
            <a:p>
              <a:endParaRPr lang="vi-V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816593" cy="2995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7939608" y="4638040"/>
            <a:ext cx="2408783" cy="906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000000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Ví dụ: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254292"/>
            <a:chOff x="0" y="0"/>
            <a:chExt cx="4816593" cy="33034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30349"/>
            </a:xfrm>
            <a:custGeom>
              <a:avLst/>
              <a:gdLst/>
              <a:ahLst/>
              <a:cxnLst/>
              <a:rect l="l" t="t" r="r" b="b"/>
              <a:pathLst>
                <a:path w="4816592" h="330349">
                  <a:moveTo>
                    <a:pt x="0" y="0"/>
                  </a:moveTo>
                  <a:lnTo>
                    <a:pt x="4816592" y="0"/>
                  </a:lnTo>
                  <a:lnTo>
                    <a:pt x="4816592" y="330349"/>
                  </a:lnTo>
                  <a:lnTo>
                    <a:pt x="0" y="330349"/>
                  </a:lnTo>
                  <a:close/>
                </a:path>
              </a:pathLst>
            </a:custGeom>
            <a:solidFill>
              <a:srgbClr val="94B1C6"/>
            </a:solidFill>
          </p:spPr>
          <p:txBody>
            <a:bodyPr/>
            <a:lstStyle/>
            <a:p>
              <a:endParaRPr lang="vi-V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816593" cy="3589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415179" y="2377743"/>
            <a:ext cx="5021026" cy="6985776"/>
          </a:xfrm>
          <a:custGeom>
            <a:avLst/>
            <a:gdLst/>
            <a:ahLst/>
            <a:cxnLst/>
            <a:rect l="l" t="t" r="r" b="b"/>
            <a:pathLst>
              <a:path w="5021026" h="6985776">
                <a:moveTo>
                  <a:pt x="0" y="0"/>
                </a:moveTo>
                <a:lnTo>
                  <a:pt x="5021026" y="0"/>
                </a:lnTo>
                <a:lnTo>
                  <a:pt x="5021026" y="6985776"/>
                </a:lnTo>
                <a:lnTo>
                  <a:pt x="0" y="69857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6" name="TextBox 6"/>
          <p:cNvSpPr txBox="1"/>
          <p:nvPr/>
        </p:nvSpPr>
        <p:spPr>
          <a:xfrm>
            <a:off x="351753" y="83604"/>
            <a:ext cx="11357792" cy="9727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25"/>
              </a:lnSpc>
            </a:pPr>
            <a:r>
              <a:rPr lang="en-US" sz="5661" b="1">
                <a:solidFill>
                  <a:srgbClr val="32323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3. Nội dung và cách triển khai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42038" y="1474510"/>
            <a:ext cx="4522560" cy="607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30"/>
              </a:lnSpc>
            </a:pPr>
            <a:r>
              <a:rPr lang="en-US" sz="3450" b="1">
                <a:solidFill>
                  <a:srgbClr val="323232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3.1. Cấu trúc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866353" y="2377743"/>
            <a:ext cx="8006741" cy="1302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29"/>
              </a:lnSpc>
            </a:pPr>
            <a:r>
              <a:rPr lang="en-US" sz="2857">
                <a:solidFill>
                  <a:srgbClr val="323232"/>
                </a:solidFill>
                <a:latin typeface="Faustina"/>
                <a:ea typeface="Faustina"/>
                <a:cs typeface="Faustina"/>
                <a:sym typeface="Faustina"/>
              </a:rPr>
              <a:t>Controllers: chứa các controller điều khiển logic ứng dụng và quản lý trạng thái</a:t>
            </a:r>
          </a:p>
          <a:p>
            <a:pPr marL="0" lvl="0" indent="0" algn="just">
              <a:lnSpc>
                <a:spcPts val="3429"/>
              </a:lnSpc>
              <a:spcBef>
                <a:spcPct val="0"/>
              </a:spcBef>
            </a:pPr>
            <a:endParaRPr lang="en-US" sz="2857">
              <a:solidFill>
                <a:srgbClr val="323232"/>
              </a:solidFill>
              <a:latin typeface="Faustina"/>
              <a:ea typeface="Faustina"/>
              <a:cs typeface="Faustina"/>
              <a:sym typeface="Faustina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6866353" y="3525533"/>
            <a:ext cx="8006741" cy="434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429"/>
              </a:lnSpc>
              <a:spcBef>
                <a:spcPct val="0"/>
              </a:spcBef>
            </a:pPr>
            <a:r>
              <a:rPr lang="en-US" sz="2857">
                <a:solidFill>
                  <a:srgbClr val="323232"/>
                </a:solidFill>
                <a:latin typeface="Faustina"/>
                <a:ea typeface="Faustina"/>
                <a:cs typeface="Faustina"/>
                <a:sym typeface="Faustina"/>
              </a:rPr>
              <a:t>Models: chứa các lớp mô hình dữ liệu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866353" y="4550849"/>
            <a:ext cx="8006741" cy="434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429"/>
              </a:lnSpc>
              <a:spcBef>
                <a:spcPct val="0"/>
              </a:spcBef>
            </a:pPr>
            <a:r>
              <a:rPr lang="en-US" sz="2857">
                <a:solidFill>
                  <a:srgbClr val="323232"/>
                </a:solidFill>
                <a:latin typeface="Faustina"/>
                <a:ea typeface="Faustina"/>
                <a:cs typeface="Faustina"/>
                <a:sym typeface="Faustina"/>
              </a:rPr>
              <a:t>Pages: chứa các màn hình chính của ứng dụng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866353" y="5576165"/>
            <a:ext cx="8006741" cy="868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429"/>
              </a:lnSpc>
              <a:spcBef>
                <a:spcPct val="0"/>
              </a:spcBef>
            </a:pPr>
            <a:r>
              <a:rPr lang="en-US" sz="2857">
                <a:solidFill>
                  <a:srgbClr val="323232"/>
                </a:solidFill>
                <a:latin typeface="Faustina"/>
                <a:ea typeface="Faustina"/>
                <a:cs typeface="Faustina"/>
                <a:sym typeface="Faustina"/>
              </a:rPr>
              <a:t>Routes: định nghĩa danh sách route và quản lý điều hướng giữa các trang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866353" y="7035349"/>
            <a:ext cx="8006741" cy="434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429"/>
              </a:lnSpc>
              <a:spcBef>
                <a:spcPct val="0"/>
              </a:spcBef>
            </a:pPr>
            <a:r>
              <a:rPr lang="en-US" sz="2857">
                <a:solidFill>
                  <a:srgbClr val="323232"/>
                </a:solidFill>
                <a:latin typeface="Faustina"/>
                <a:ea typeface="Faustina"/>
                <a:cs typeface="Faustina"/>
                <a:sym typeface="Faustina"/>
              </a:rPr>
              <a:t>Widget: chứa các widget được tái sử dụng ở các trang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254292"/>
            <a:chOff x="0" y="0"/>
            <a:chExt cx="4816593" cy="33034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30349"/>
            </a:xfrm>
            <a:custGeom>
              <a:avLst/>
              <a:gdLst/>
              <a:ahLst/>
              <a:cxnLst/>
              <a:rect l="l" t="t" r="r" b="b"/>
              <a:pathLst>
                <a:path w="4816592" h="330349">
                  <a:moveTo>
                    <a:pt x="0" y="0"/>
                  </a:moveTo>
                  <a:lnTo>
                    <a:pt x="4816592" y="0"/>
                  </a:lnTo>
                  <a:lnTo>
                    <a:pt x="4816592" y="330349"/>
                  </a:lnTo>
                  <a:lnTo>
                    <a:pt x="0" y="330349"/>
                  </a:lnTo>
                  <a:close/>
                </a:path>
              </a:pathLst>
            </a:custGeom>
            <a:solidFill>
              <a:srgbClr val="94B1C6"/>
            </a:solidFill>
          </p:spPr>
          <p:txBody>
            <a:bodyPr/>
            <a:lstStyle/>
            <a:p>
              <a:endParaRPr lang="vi-V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816593" cy="3589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1989552" y="5710740"/>
            <a:ext cx="5080628" cy="1811362"/>
          </a:xfrm>
          <a:custGeom>
            <a:avLst/>
            <a:gdLst/>
            <a:ahLst/>
            <a:cxnLst/>
            <a:rect l="l" t="t" r="r" b="b"/>
            <a:pathLst>
              <a:path w="5080628" h="1811362">
                <a:moveTo>
                  <a:pt x="0" y="0"/>
                </a:moveTo>
                <a:lnTo>
                  <a:pt x="5080628" y="0"/>
                </a:lnTo>
                <a:lnTo>
                  <a:pt x="5080628" y="1811362"/>
                </a:lnTo>
                <a:lnTo>
                  <a:pt x="0" y="18113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9012"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6" name="TextBox 6"/>
          <p:cNvSpPr txBox="1"/>
          <p:nvPr/>
        </p:nvSpPr>
        <p:spPr>
          <a:xfrm>
            <a:off x="351753" y="83604"/>
            <a:ext cx="11357792" cy="9727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25"/>
              </a:lnSpc>
            </a:pPr>
            <a:r>
              <a:rPr lang="en-US" sz="5661" b="1">
                <a:solidFill>
                  <a:srgbClr val="32323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3. Nội dung và cách triển khai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26209" y="1609866"/>
            <a:ext cx="10883336" cy="566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54"/>
              </a:lnSpc>
            </a:pPr>
            <a:r>
              <a:rPr lang="en-US" sz="3182" b="1">
                <a:solidFill>
                  <a:srgbClr val="323232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3.2. GetxController và Reactive Programming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07472" y="2605071"/>
            <a:ext cx="10642417" cy="2171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429"/>
              </a:lnSpc>
              <a:spcBef>
                <a:spcPct val="0"/>
              </a:spcBef>
            </a:pPr>
            <a:r>
              <a:rPr lang="en-US" sz="2857">
                <a:solidFill>
                  <a:srgbClr val="323232"/>
                </a:solidFill>
                <a:latin typeface="Faustina"/>
                <a:ea typeface="Faustina"/>
                <a:cs typeface="Faustina"/>
                <a:sym typeface="Faustina"/>
              </a:rPr>
              <a:t>a. Định</a:t>
            </a:r>
            <a:r>
              <a:rPr lang="en-US" sz="2857" u="none" strike="noStrike">
                <a:solidFill>
                  <a:srgbClr val="323232"/>
                </a:solidFill>
                <a:latin typeface="Faustina"/>
                <a:ea typeface="Faustina"/>
                <a:cs typeface="Faustina"/>
                <a:sym typeface="Faustina"/>
              </a:rPr>
              <a:t> nghĩa</a:t>
            </a:r>
          </a:p>
          <a:p>
            <a:pPr algn="just">
              <a:lnSpc>
                <a:spcPts val="3429"/>
              </a:lnSpc>
              <a:spcBef>
                <a:spcPct val="0"/>
              </a:spcBef>
            </a:pPr>
            <a:r>
              <a:rPr lang="en-US" sz="2857" u="none" strike="noStrike">
                <a:solidFill>
                  <a:srgbClr val="323232"/>
                </a:solidFill>
                <a:latin typeface="Faustina"/>
                <a:ea typeface="Faustina"/>
                <a:cs typeface="Faustina"/>
                <a:sym typeface="Faustina"/>
              </a:rPr>
              <a:t>-  GetxController là nơi chứa dữ liệu và logic điều khiển của ứng dụng.</a:t>
            </a:r>
          </a:p>
          <a:p>
            <a:pPr algn="just">
              <a:lnSpc>
                <a:spcPts val="3429"/>
              </a:lnSpc>
              <a:spcBef>
                <a:spcPct val="0"/>
              </a:spcBef>
            </a:pPr>
            <a:r>
              <a:rPr lang="en-US" sz="2857" u="none" strike="noStrike">
                <a:solidFill>
                  <a:srgbClr val="323232"/>
                </a:solidFill>
                <a:latin typeface="Faustina"/>
                <a:ea typeface="Faustina"/>
                <a:cs typeface="Faustina"/>
                <a:sym typeface="Faustina"/>
              </a:rPr>
              <a:t>-  Reactive Programming cho phép UI tự động cập nhật khi dữ liệu thay đổi, không cần gọi setState().</a:t>
            </a:r>
          </a:p>
          <a:p>
            <a:pPr marL="0" lvl="0" indent="0" algn="just">
              <a:lnSpc>
                <a:spcPts val="3429"/>
              </a:lnSpc>
              <a:spcBef>
                <a:spcPct val="0"/>
              </a:spcBef>
            </a:pPr>
            <a:endParaRPr lang="en-US" sz="2857" u="none" strike="noStrike">
              <a:solidFill>
                <a:srgbClr val="323232"/>
              </a:solidFill>
              <a:latin typeface="Faustina"/>
              <a:ea typeface="Faustina"/>
              <a:cs typeface="Faustina"/>
              <a:sym typeface="Faustina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307472" y="5028431"/>
            <a:ext cx="8206309" cy="3000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431"/>
              </a:lnSpc>
              <a:spcBef>
                <a:spcPct val="0"/>
              </a:spcBef>
            </a:pPr>
            <a:r>
              <a:rPr lang="en-US" sz="2859">
                <a:solidFill>
                  <a:srgbClr val="323232"/>
                </a:solidFill>
                <a:latin typeface="Faustina"/>
                <a:ea typeface="Faustina"/>
                <a:cs typeface="Faustina"/>
                <a:sym typeface="Faustina"/>
              </a:rPr>
              <a:t>b. Sử</a:t>
            </a:r>
            <a:r>
              <a:rPr lang="en-US" sz="2859" u="none" strike="noStrike">
                <a:solidFill>
                  <a:srgbClr val="323232"/>
                </a:solidFill>
                <a:latin typeface="Faustina"/>
                <a:ea typeface="Faustina"/>
                <a:cs typeface="Faustina"/>
                <a:sym typeface="Faustina"/>
              </a:rPr>
              <a:t> dụng GetxController và Reactive Programming</a:t>
            </a:r>
          </a:p>
          <a:p>
            <a:pPr marL="0" lvl="0" indent="0" algn="just">
              <a:lnSpc>
                <a:spcPts val="3431"/>
              </a:lnSpc>
              <a:spcBef>
                <a:spcPct val="0"/>
              </a:spcBef>
            </a:pPr>
            <a:r>
              <a:rPr lang="en-US" sz="2859" u="none" strike="noStrike">
                <a:solidFill>
                  <a:srgbClr val="323232"/>
                </a:solidFill>
                <a:latin typeface="Faustina"/>
                <a:ea typeface="Faustina"/>
                <a:cs typeface="Faustina"/>
                <a:sym typeface="Faustina"/>
              </a:rPr>
              <a:t>Mục đích:</a:t>
            </a:r>
          </a:p>
          <a:p>
            <a:pPr marL="617473" lvl="1" indent="-308737" algn="just">
              <a:lnSpc>
                <a:spcPts val="3431"/>
              </a:lnSpc>
              <a:spcBef>
                <a:spcPct val="0"/>
              </a:spcBef>
              <a:buFont typeface="Arial"/>
              <a:buChar char="•"/>
            </a:pPr>
            <a:r>
              <a:rPr lang="en-US" sz="2859" u="none" strike="noStrike">
                <a:solidFill>
                  <a:srgbClr val="323232"/>
                </a:solidFill>
                <a:latin typeface="Faustina"/>
                <a:ea typeface="Faustina"/>
                <a:cs typeface="Faustina"/>
                <a:sym typeface="Faustina"/>
              </a:rPr>
              <a:t>Mỗi controller chịu trách nhiệm quản lý logic và dữ liệu cho một phần của app.</a:t>
            </a:r>
          </a:p>
          <a:p>
            <a:pPr marL="617473" lvl="1" indent="-308737" algn="just">
              <a:lnSpc>
                <a:spcPts val="3431"/>
              </a:lnSpc>
              <a:spcBef>
                <a:spcPct val="0"/>
              </a:spcBef>
              <a:buFont typeface="Arial"/>
              <a:buChar char="•"/>
            </a:pPr>
            <a:r>
              <a:rPr lang="en-US" sz="2859" u="none" strike="noStrike">
                <a:solidFill>
                  <a:srgbClr val="323232"/>
                </a:solidFill>
                <a:latin typeface="Faustina"/>
                <a:ea typeface="Faustina"/>
                <a:cs typeface="Faustina"/>
                <a:sym typeface="Faustina"/>
              </a:rPr>
              <a:t>Nhờ .obs, UI tự động cập nhật khi dữ liệu thay đổi — không cần setState().</a:t>
            </a:r>
          </a:p>
          <a:p>
            <a:pPr marL="0" lvl="0" indent="0" algn="just">
              <a:lnSpc>
                <a:spcPts val="3431"/>
              </a:lnSpc>
              <a:spcBef>
                <a:spcPct val="0"/>
              </a:spcBef>
            </a:pPr>
            <a:endParaRPr lang="en-US" sz="2859" u="none" strike="noStrike">
              <a:solidFill>
                <a:srgbClr val="323232"/>
              </a:solidFill>
              <a:latin typeface="Faustina"/>
              <a:ea typeface="Faustina"/>
              <a:cs typeface="Faustina"/>
              <a:sym typeface="Faustina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1989552" y="4819967"/>
            <a:ext cx="3597622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i="1">
                <a:solidFill>
                  <a:srgbClr val="323232"/>
                </a:solidFill>
                <a:latin typeface="Noto Serif Display Italics"/>
                <a:ea typeface="Noto Serif Display Italics"/>
                <a:cs typeface="Noto Serif Display Italics"/>
                <a:sym typeface="Noto Serif Display Italics"/>
              </a:rPr>
              <a:t>Thư mục sử dụng: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"/>
            <a:chOff x="0" y="0"/>
            <a:chExt cx="4816593" cy="2709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70933"/>
            </a:xfrm>
            <a:custGeom>
              <a:avLst/>
              <a:gdLst/>
              <a:ahLst/>
              <a:cxnLst/>
              <a:rect l="l" t="t" r="r" b="b"/>
              <a:pathLst>
                <a:path w="4816592" h="270933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94B1C6"/>
            </a:solidFill>
          </p:spPr>
          <p:txBody>
            <a:bodyPr/>
            <a:lstStyle/>
            <a:p>
              <a:endParaRPr lang="vi-V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816593" cy="2995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384851" y="2859957"/>
            <a:ext cx="9171640" cy="5755204"/>
          </a:xfrm>
          <a:custGeom>
            <a:avLst/>
            <a:gdLst/>
            <a:ahLst/>
            <a:cxnLst/>
            <a:rect l="l" t="t" r="r" b="b"/>
            <a:pathLst>
              <a:path w="9171640" h="5755204">
                <a:moveTo>
                  <a:pt x="0" y="0"/>
                </a:moveTo>
                <a:lnTo>
                  <a:pt x="9171640" y="0"/>
                </a:lnTo>
                <a:lnTo>
                  <a:pt x="9171640" y="5755204"/>
                </a:lnTo>
                <a:lnTo>
                  <a:pt x="0" y="57552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6" name="TextBox 6"/>
          <p:cNvSpPr txBox="1"/>
          <p:nvPr/>
        </p:nvSpPr>
        <p:spPr>
          <a:xfrm>
            <a:off x="901135" y="1262447"/>
            <a:ext cx="7987194" cy="7054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40"/>
              </a:lnSpc>
            </a:pPr>
            <a:r>
              <a:rPr lang="en-US" sz="4100" b="1">
                <a:solidFill>
                  <a:srgbClr val="000000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Ví dụ: cart_controller.dart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447171" y="3842586"/>
            <a:ext cx="6912915" cy="3000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431"/>
              </a:lnSpc>
              <a:spcBef>
                <a:spcPct val="0"/>
              </a:spcBef>
            </a:pPr>
            <a:r>
              <a:rPr lang="en-US" sz="2859" u="none" strike="noStrike">
                <a:solidFill>
                  <a:srgbClr val="323232"/>
                </a:solidFill>
                <a:latin typeface="Faustina"/>
                <a:ea typeface="Faustina"/>
                <a:cs typeface="Faustina"/>
                <a:sym typeface="Faustina"/>
              </a:rPr>
              <a:t>Giải thích</a:t>
            </a:r>
          </a:p>
          <a:p>
            <a:pPr marL="617473" lvl="1" indent="-308737" algn="just">
              <a:lnSpc>
                <a:spcPts val="3431"/>
              </a:lnSpc>
              <a:spcBef>
                <a:spcPct val="0"/>
              </a:spcBef>
              <a:buFont typeface="Arial"/>
              <a:buChar char="•"/>
            </a:pPr>
            <a:r>
              <a:rPr lang="en-US" sz="2859" u="none" strike="noStrike">
                <a:solidFill>
                  <a:srgbClr val="323232"/>
                </a:solidFill>
                <a:latin typeface="Faustina"/>
                <a:ea typeface="Faustina"/>
                <a:cs typeface="Faustina"/>
                <a:sym typeface="Faustina"/>
              </a:rPr>
              <a:t>cartItems là Reactive List (RxList) → UI tự động cập nhật khi thêm hoặc xoá sản phẩm.</a:t>
            </a:r>
          </a:p>
          <a:p>
            <a:pPr marL="617473" lvl="1" indent="-308737" algn="just">
              <a:lnSpc>
                <a:spcPts val="3431"/>
              </a:lnSpc>
              <a:spcBef>
                <a:spcPct val="0"/>
              </a:spcBef>
              <a:buFont typeface="Arial"/>
              <a:buChar char="•"/>
            </a:pPr>
            <a:r>
              <a:rPr lang="en-US" sz="2859" u="none" strike="noStrike">
                <a:solidFill>
                  <a:srgbClr val="323232"/>
                </a:solidFill>
                <a:latin typeface="Faustina"/>
                <a:ea typeface="Faustina"/>
                <a:cs typeface="Faustina"/>
                <a:sym typeface="Faustina"/>
              </a:rPr>
              <a:t>Đây chính là </a:t>
            </a:r>
            <a:r>
              <a:rPr lang="en-US" sz="2859" b="1" u="none" strike="noStrike">
                <a:solidFill>
                  <a:srgbClr val="323232"/>
                </a:solidFill>
                <a:latin typeface="Faustina Bold"/>
                <a:ea typeface="Faustina Bold"/>
                <a:cs typeface="Faustina Bold"/>
                <a:sym typeface="Faustina Bold"/>
              </a:rPr>
              <a:t>Reactive Programming</a:t>
            </a:r>
            <a:r>
              <a:rPr lang="en-US" sz="2859" u="none" strike="noStrike">
                <a:solidFill>
                  <a:srgbClr val="323232"/>
                </a:solidFill>
                <a:latin typeface="Faustina"/>
                <a:ea typeface="Faustina"/>
                <a:cs typeface="Faustina"/>
                <a:sym typeface="Faustina"/>
              </a:rPr>
              <a:t>: dữ liệu thay đổi → UI thay đổi theo.</a:t>
            </a:r>
          </a:p>
          <a:p>
            <a:pPr marL="0" lvl="0" indent="0" algn="just">
              <a:lnSpc>
                <a:spcPts val="3431"/>
              </a:lnSpc>
              <a:spcBef>
                <a:spcPct val="0"/>
              </a:spcBef>
            </a:pPr>
            <a:endParaRPr lang="en-US" sz="2859" u="none" strike="noStrike">
              <a:solidFill>
                <a:srgbClr val="323232"/>
              </a:solidFill>
              <a:latin typeface="Faustina"/>
              <a:ea typeface="Faustina"/>
              <a:cs typeface="Faustina"/>
              <a:sym typeface="Faustin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254292"/>
            <a:chOff x="0" y="0"/>
            <a:chExt cx="4816593" cy="33034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30349"/>
            </a:xfrm>
            <a:custGeom>
              <a:avLst/>
              <a:gdLst/>
              <a:ahLst/>
              <a:cxnLst/>
              <a:rect l="l" t="t" r="r" b="b"/>
              <a:pathLst>
                <a:path w="4816592" h="330349">
                  <a:moveTo>
                    <a:pt x="0" y="0"/>
                  </a:moveTo>
                  <a:lnTo>
                    <a:pt x="4816592" y="0"/>
                  </a:lnTo>
                  <a:lnTo>
                    <a:pt x="4816592" y="330349"/>
                  </a:lnTo>
                  <a:lnTo>
                    <a:pt x="0" y="330349"/>
                  </a:lnTo>
                  <a:close/>
                </a:path>
              </a:pathLst>
            </a:custGeom>
            <a:solidFill>
              <a:srgbClr val="94B1C6"/>
            </a:solidFill>
          </p:spPr>
          <p:txBody>
            <a:bodyPr/>
            <a:lstStyle/>
            <a:p>
              <a:endParaRPr lang="vi-V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816593" cy="3589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1989552" y="5918353"/>
            <a:ext cx="5116611" cy="730944"/>
          </a:xfrm>
          <a:custGeom>
            <a:avLst/>
            <a:gdLst/>
            <a:ahLst/>
            <a:cxnLst/>
            <a:rect l="l" t="t" r="r" b="b"/>
            <a:pathLst>
              <a:path w="5116611" h="730944">
                <a:moveTo>
                  <a:pt x="0" y="0"/>
                </a:moveTo>
                <a:lnTo>
                  <a:pt x="5116611" y="0"/>
                </a:lnTo>
                <a:lnTo>
                  <a:pt x="5116611" y="730944"/>
                </a:lnTo>
                <a:lnTo>
                  <a:pt x="0" y="7309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6" name="Freeform 6"/>
          <p:cNvSpPr/>
          <p:nvPr/>
        </p:nvSpPr>
        <p:spPr>
          <a:xfrm>
            <a:off x="11989552" y="6906472"/>
            <a:ext cx="5116611" cy="845721"/>
          </a:xfrm>
          <a:custGeom>
            <a:avLst/>
            <a:gdLst/>
            <a:ahLst/>
            <a:cxnLst/>
            <a:rect l="l" t="t" r="r" b="b"/>
            <a:pathLst>
              <a:path w="5116611" h="845721">
                <a:moveTo>
                  <a:pt x="0" y="0"/>
                </a:moveTo>
                <a:lnTo>
                  <a:pt x="5116611" y="0"/>
                </a:lnTo>
                <a:lnTo>
                  <a:pt x="5116611" y="845721"/>
                </a:lnTo>
                <a:lnTo>
                  <a:pt x="0" y="8457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7" name="TextBox 7"/>
          <p:cNvSpPr txBox="1"/>
          <p:nvPr/>
        </p:nvSpPr>
        <p:spPr>
          <a:xfrm>
            <a:off x="351753" y="83604"/>
            <a:ext cx="11357792" cy="9727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25"/>
              </a:lnSpc>
            </a:pPr>
            <a:r>
              <a:rPr lang="en-US" sz="5661" b="1">
                <a:solidFill>
                  <a:srgbClr val="32323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3. Nội dung và cách triển khai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26209" y="1609866"/>
            <a:ext cx="11770137" cy="5496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00"/>
              </a:lnSpc>
            </a:pPr>
            <a:r>
              <a:rPr lang="en-US" sz="3071" b="1">
                <a:solidFill>
                  <a:srgbClr val="323232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3.3. Sử dụng Obx widget và Dependency Injection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07472" y="2614596"/>
            <a:ext cx="9462364" cy="1691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357"/>
              </a:lnSpc>
              <a:spcBef>
                <a:spcPct val="0"/>
              </a:spcBef>
            </a:pPr>
            <a:r>
              <a:rPr lang="en-US" sz="2798">
                <a:solidFill>
                  <a:srgbClr val="323232"/>
                </a:solidFill>
                <a:latin typeface="Faustina"/>
                <a:ea typeface="Faustina"/>
                <a:cs typeface="Faustina"/>
                <a:sym typeface="Faustina"/>
              </a:rPr>
              <a:t>a. Định</a:t>
            </a:r>
            <a:r>
              <a:rPr lang="en-US" sz="2798" u="none" strike="noStrike">
                <a:solidFill>
                  <a:srgbClr val="323232"/>
                </a:solidFill>
                <a:latin typeface="Faustina"/>
                <a:ea typeface="Faustina"/>
                <a:cs typeface="Faustina"/>
                <a:sym typeface="Faustina"/>
              </a:rPr>
              <a:t> nghĩa</a:t>
            </a:r>
          </a:p>
          <a:p>
            <a:pPr marL="0" lvl="0" indent="0" algn="just">
              <a:lnSpc>
                <a:spcPts val="3357"/>
              </a:lnSpc>
              <a:spcBef>
                <a:spcPct val="0"/>
              </a:spcBef>
            </a:pPr>
            <a:r>
              <a:rPr lang="en-US" sz="2798" u="none" strike="noStrike">
                <a:solidFill>
                  <a:srgbClr val="323232"/>
                </a:solidFill>
                <a:latin typeface="Faustina"/>
                <a:ea typeface="Faustina"/>
                <a:cs typeface="Faustina"/>
                <a:sym typeface="Faustina"/>
              </a:rPr>
              <a:t>– Obx widget:Là widget đặc biệt của GetX dùng để quan sát biến reactive.Khi giá trị .obs thay đổi → Obx tự động rebuild UI.</a:t>
            </a:r>
          </a:p>
          <a:p>
            <a:pPr marL="0" lvl="0" indent="0" algn="just">
              <a:lnSpc>
                <a:spcPts val="3357"/>
              </a:lnSpc>
              <a:spcBef>
                <a:spcPct val="0"/>
              </a:spcBef>
            </a:pPr>
            <a:endParaRPr lang="en-US" sz="2798" u="none" strike="noStrike">
              <a:solidFill>
                <a:srgbClr val="323232"/>
              </a:solidFill>
              <a:latin typeface="Faustina"/>
              <a:ea typeface="Faustina"/>
              <a:cs typeface="Faustina"/>
              <a:sym typeface="Faustina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307472" y="5409883"/>
            <a:ext cx="9000692" cy="29327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365"/>
              </a:lnSpc>
              <a:spcBef>
                <a:spcPct val="0"/>
              </a:spcBef>
            </a:pPr>
            <a:r>
              <a:rPr lang="en-US" sz="2804">
                <a:solidFill>
                  <a:srgbClr val="323232"/>
                </a:solidFill>
                <a:latin typeface="Faustina"/>
                <a:ea typeface="Faustina"/>
                <a:cs typeface="Faustina"/>
                <a:sym typeface="Faustina"/>
              </a:rPr>
              <a:t>b. Mục đích: </a:t>
            </a:r>
          </a:p>
          <a:p>
            <a:pPr marL="0" lvl="0" indent="0" algn="just">
              <a:lnSpc>
                <a:spcPts val="3365"/>
              </a:lnSpc>
              <a:spcBef>
                <a:spcPct val="0"/>
              </a:spcBef>
            </a:pPr>
            <a:r>
              <a:rPr lang="en-US" sz="2804" u="none" strike="noStrike">
                <a:solidFill>
                  <a:srgbClr val="323232"/>
                </a:solidFill>
                <a:latin typeface="Faustina"/>
                <a:ea typeface="Faustina"/>
                <a:cs typeface="Faustina"/>
                <a:sym typeface="Faustina"/>
              </a:rPr>
              <a:t>– Obx giúp quan sát và rebuild UI khi dữ liệu trong controller thay đổi.</a:t>
            </a:r>
          </a:p>
          <a:p>
            <a:pPr marL="0" lvl="0" indent="0" algn="just">
              <a:lnSpc>
                <a:spcPts val="3365"/>
              </a:lnSpc>
              <a:spcBef>
                <a:spcPct val="0"/>
              </a:spcBef>
            </a:pPr>
            <a:r>
              <a:rPr lang="en-US" sz="2804" u="none" strike="noStrike">
                <a:solidFill>
                  <a:srgbClr val="323232"/>
                </a:solidFill>
                <a:latin typeface="Faustina"/>
                <a:ea typeface="Faustina"/>
                <a:cs typeface="Faustina"/>
                <a:sym typeface="Faustina"/>
              </a:rPr>
              <a:t>– Dependency Injection (Get.put, Get.find) dùng controller ở bất kỳ đâu mà không cần truyền qua constructor hay context.</a:t>
            </a:r>
          </a:p>
          <a:p>
            <a:pPr marL="0" lvl="0" indent="0" algn="just">
              <a:lnSpc>
                <a:spcPts val="3365"/>
              </a:lnSpc>
              <a:spcBef>
                <a:spcPct val="0"/>
              </a:spcBef>
            </a:pPr>
            <a:endParaRPr lang="en-US" sz="2804" u="none" strike="noStrike">
              <a:solidFill>
                <a:srgbClr val="323232"/>
              </a:solidFill>
              <a:latin typeface="Faustina"/>
              <a:ea typeface="Faustina"/>
              <a:cs typeface="Faustina"/>
              <a:sym typeface="Faustina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1989552" y="5076825"/>
            <a:ext cx="3597622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i="1">
                <a:solidFill>
                  <a:srgbClr val="323232"/>
                </a:solidFill>
                <a:latin typeface="Noto Serif Display Italics"/>
                <a:ea typeface="Noto Serif Display Italics"/>
                <a:cs typeface="Noto Serif Display Italics"/>
                <a:sym typeface="Noto Serif Display Italics"/>
              </a:rPr>
              <a:t>Thư mục sử dụng: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"/>
            <a:chOff x="0" y="0"/>
            <a:chExt cx="4816593" cy="2709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70933"/>
            </a:xfrm>
            <a:custGeom>
              <a:avLst/>
              <a:gdLst/>
              <a:ahLst/>
              <a:cxnLst/>
              <a:rect l="l" t="t" r="r" b="b"/>
              <a:pathLst>
                <a:path w="4816592" h="270933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94B1C6"/>
            </a:solidFill>
          </p:spPr>
          <p:txBody>
            <a:bodyPr/>
            <a:lstStyle/>
            <a:p>
              <a:endParaRPr lang="vi-V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816593" cy="2995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570266" y="1740225"/>
            <a:ext cx="8121888" cy="8127284"/>
          </a:xfrm>
          <a:custGeom>
            <a:avLst/>
            <a:gdLst/>
            <a:ahLst/>
            <a:cxnLst/>
            <a:rect l="l" t="t" r="r" b="b"/>
            <a:pathLst>
              <a:path w="8121888" h="8127284">
                <a:moveTo>
                  <a:pt x="0" y="0"/>
                </a:moveTo>
                <a:lnTo>
                  <a:pt x="8121889" y="0"/>
                </a:lnTo>
                <a:lnTo>
                  <a:pt x="8121889" y="8127283"/>
                </a:lnTo>
                <a:lnTo>
                  <a:pt x="0" y="81272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12919"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6" name="Freeform 6"/>
          <p:cNvSpPr/>
          <p:nvPr/>
        </p:nvSpPr>
        <p:spPr>
          <a:xfrm>
            <a:off x="9817357" y="1530960"/>
            <a:ext cx="6752102" cy="4214037"/>
          </a:xfrm>
          <a:custGeom>
            <a:avLst/>
            <a:gdLst/>
            <a:ahLst/>
            <a:cxnLst/>
            <a:rect l="l" t="t" r="r" b="b"/>
            <a:pathLst>
              <a:path w="6752102" h="4214037">
                <a:moveTo>
                  <a:pt x="0" y="0"/>
                </a:moveTo>
                <a:lnTo>
                  <a:pt x="6752102" y="0"/>
                </a:lnTo>
                <a:lnTo>
                  <a:pt x="6752102" y="4214037"/>
                </a:lnTo>
                <a:lnTo>
                  <a:pt x="0" y="42140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153" r="-13046" b="-64279"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7" name="Freeform 7"/>
          <p:cNvSpPr/>
          <p:nvPr/>
        </p:nvSpPr>
        <p:spPr>
          <a:xfrm>
            <a:off x="9346697" y="6923876"/>
            <a:ext cx="7693422" cy="528923"/>
          </a:xfrm>
          <a:custGeom>
            <a:avLst/>
            <a:gdLst/>
            <a:ahLst/>
            <a:cxnLst/>
            <a:rect l="l" t="t" r="r" b="b"/>
            <a:pathLst>
              <a:path w="7693422" h="528923">
                <a:moveTo>
                  <a:pt x="0" y="0"/>
                </a:moveTo>
                <a:lnTo>
                  <a:pt x="7693422" y="0"/>
                </a:lnTo>
                <a:lnTo>
                  <a:pt x="7693422" y="528922"/>
                </a:lnTo>
                <a:lnTo>
                  <a:pt x="0" y="5289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8" name="TextBox 8"/>
          <p:cNvSpPr txBox="1"/>
          <p:nvPr/>
        </p:nvSpPr>
        <p:spPr>
          <a:xfrm>
            <a:off x="570266" y="942975"/>
            <a:ext cx="7231601" cy="646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97"/>
              </a:lnSpc>
            </a:pPr>
            <a:r>
              <a:rPr lang="en-US" sz="3712" b="1">
                <a:solidFill>
                  <a:srgbClr val="000000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Ví dụ:cart_page.dar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254292"/>
            <a:chOff x="0" y="0"/>
            <a:chExt cx="4816593" cy="33034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30349"/>
            </a:xfrm>
            <a:custGeom>
              <a:avLst/>
              <a:gdLst/>
              <a:ahLst/>
              <a:cxnLst/>
              <a:rect l="l" t="t" r="r" b="b"/>
              <a:pathLst>
                <a:path w="4816592" h="330349">
                  <a:moveTo>
                    <a:pt x="0" y="0"/>
                  </a:moveTo>
                  <a:lnTo>
                    <a:pt x="4816592" y="0"/>
                  </a:lnTo>
                  <a:lnTo>
                    <a:pt x="4816592" y="330349"/>
                  </a:lnTo>
                  <a:lnTo>
                    <a:pt x="0" y="330349"/>
                  </a:lnTo>
                  <a:close/>
                </a:path>
              </a:pathLst>
            </a:custGeom>
            <a:solidFill>
              <a:srgbClr val="94B1C6"/>
            </a:solidFill>
          </p:spPr>
          <p:txBody>
            <a:bodyPr/>
            <a:lstStyle/>
            <a:p>
              <a:endParaRPr lang="vi-V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816593" cy="3589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1488699" y="4276398"/>
            <a:ext cx="5649654" cy="2661049"/>
          </a:xfrm>
          <a:custGeom>
            <a:avLst/>
            <a:gdLst/>
            <a:ahLst/>
            <a:cxnLst/>
            <a:rect l="l" t="t" r="r" b="b"/>
            <a:pathLst>
              <a:path w="5649654" h="2661049">
                <a:moveTo>
                  <a:pt x="0" y="0"/>
                </a:moveTo>
                <a:lnTo>
                  <a:pt x="5649654" y="0"/>
                </a:lnTo>
                <a:lnTo>
                  <a:pt x="5649654" y="2661049"/>
                </a:lnTo>
                <a:lnTo>
                  <a:pt x="0" y="26610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3047"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6" name="Freeform 6"/>
          <p:cNvSpPr/>
          <p:nvPr/>
        </p:nvSpPr>
        <p:spPr>
          <a:xfrm>
            <a:off x="11488699" y="7197630"/>
            <a:ext cx="5649654" cy="976881"/>
          </a:xfrm>
          <a:custGeom>
            <a:avLst/>
            <a:gdLst/>
            <a:ahLst/>
            <a:cxnLst/>
            <a:rect l="l" t="t" r="r" b="b"/>
            <a:pathLst>
              <a:path w="5649654" h="976881">
                <a:moveTo>
                  <a:pt x="0" y="0"/>
                </a:moveTo>
                <a:lnTo>
                  <a:pt x="5649654" y="0"/>
                </a:lnTo>
                <a:lnTo>
                  <a:pt x="5649654" y="976881"/>
                </a:lnTo>
                <a:lnTo>
                  <a:pt x="0" y="9768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6281"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7" name="Freeform 7"/>
          <p:cNvSpPr/>
          <p:nvPr/>
        </p:nvSpPr>
        <p:spPr>
          <a:xfrm>
            <a:off x="1028700" y="5678439"/>
            <a:ext cx="3549929" cy="4015263"/>
          </a:xfrm>
          <a:custGeom>
            <a:avLst/>
            <a:gdLst/>
            <a:ahLst/>
            <a:cxnLst/>
            <a:rect l="l" t="t" r="r" b="b"/>
            <a:pathLst>
              <a:path w="3549929" h="4015263">
                <a:moveTo>
                  <a:pt x="0" y="0"/>
                </a:moveTo>
                <a:lnTo>
                  <a:pt x="3549929" y="0"/>
                </a:lnTo>
                <a:lnTo>
                  <a:pt x="3549929" y="4015263"/>
                </a:lnTo>
                <a:lnTo>
                  <a:pt x="0" y="40152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32344"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8" name="Freeform 8"/>
          <p:cNvSpPr/>
          <p:nvPr/>
        </p:nvSpPr>
        <p:spPr>
          <a:xfrm>
            <a:off x="5237788" y="6773587"/>
            <a:ext cx="5591753" cy="721869"/>
          </a:xfrm>
          <a:custGeom>
            <a:avLst/>
            <a:gdLst/>
            <a:ahLst/>
            <a:cxnLst/>
            <a:rect l="l" t="t" r="r" b="b"/>
            <a:pathLst>
              <a:path w="5591753" h="721869">
                <a:moveTo>
                  <a:pt x="0" y="0"/>
                </a:moveTo>
                <a:lnTo>
                  <a:pt x="5591753" y="0"/>
                </a:lnTo>
                <a:lnTo>
                  <a:pt x="5591753" y="721869"/>
                </a:lnTo>
                <a:lnTo>
                  <a:pt x="0" y="7218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r="-12472"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9" name="TextBox 9"/>
          <p:cNvSpPr txBox="1"/>
          <p:nvPr/>
        </p:nvSpPr>
        <p:spPr>
          <a:xfrm>
            <a:off x="351753" y="83604"/>
            <a:ext cx="11357792" cy="9727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25"/>
              </a:lnSpc>
            </a:pPr>
            <a:r>
              <a:rPr lang="en-US" sz="5661" b="1">
                <a:solidFill>
                  <a:srgbClr val="32323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3. Nội dung và cách triển khai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26209" y="1609866"/>
            <a:ext cx="9619492" cy="5496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00"/>
              </a:lnSpc>
            </a:pPr>
            <a:r>
              <a:rPr lang="en-US" sz="3071" b="1">
                <a:solidFill>
                  <a:srgbClr val="323232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3.4. Áp dụng GetX Routing và Navigation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2417674"/>
            <a:ext cx="9612758" cy="2966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357"/>
              </a:lnSpc>
              <a:spcBef>
                <a:spcPct val="0"/>
              </a:spcBef>
            </a:pPr>
            <a:r>
              <a:rPr lang="en-US" sz="2798">
                <a:solidFill>
                  <a:srgbClr val="323232"/>
                </a:solidFill>
                <a:latin typeface="Faustina"/>
                <a:ea typeface="Faustina"/>
                <a:cs typeface="Faustina"/>
                <a:sym typeface="Faustina"/>
              </a:rPr>
              <a:t>a. Định</a:t>
            </a:r>
            <a:r>
              <a:rPr lang="en-US" sz="2798" u="none" strike="noStrike">
                <a:solidFill>
                  <a:srgbClr val="323232"/>
                </a:solidFill>
                <a:latin typeface="Faustina"/>
                <a:ea typeface="Faustina"/>
                <a:cs typeface="Faustina"/>
                <a:sym typeface="Faustina"/>
              </a:rPr>
              <a:t> nghĩa route:</a:t>
            </a:r>
          </a:p>
          <a:p>
            <a:pPr marL="0" lvl="0" indent="0" algn="just">
              <a:lnSpc>
                <a:spcPts val="3357"/>
              </a:lnSpc>
              <a:spcBef>
                <a:spcPct val="0"/>
              </a:spcBef>
            </a:pPr>
            <a:r>
              <a:rPr lang="en-US" sz="2798" u="none" strike="noStrike">
                <a:solidFill>
                  <a:srgbClr val="323232"/>
                </a:solidFill>
                <a:latin typeface="Faustina"/>
                <a:ea typeface="Faustina"/>
                <a:cs typeface="Faustina"/>
                <a:sym typeface="Faustina"/>
              </a:rPr>
              <a:t>– GetX cung cấp routing system riêng, thay thế Navigator.push().</a:t>
            </a:r>
          </a:p>
          <a:p>
            <a:pPr marL="0" lvl="0" indent="0" algn="just">
              <a:lnSpc>
                <a:spcPts val="3357"/>
              </a:lnSpc>
              <a:spcBef>
                <a:spcPct val="0"/>
              </a:spcBef>
            </a:pPr>
            <a:endParaRPr lang="en-US" sz="2798" u="none" strike="noStrike">
              <a:solidFill>
                <a:srgbClr val="323232"/>
              </a:solidFill>
              <a:latin typeface="Faustina"/>
              <a:ea typeface="Faustina"/>
              <a:cs typeface="Faustina"/>
              <a:sym typeface="Faustina"/>
            </a:endParaRPr>
          </a:p>
          <a:p>
            <a:pPr marL="0" lvl="0" indent="0" algn="just">
              <a:lnSpc>
                <a:spcPts val="3357"/>
              </a:lnSpc>
              <a:spcBef>
                <a:spcPct val="0"/>
              </a:spcBef>
            </a:pPr>
            <a:r>
              <a:rPr lang="en-US" sz="2798" u="none" strike="noStrike">
                <a:solidFill>
                  <a:srgbClr val="323232"/>
                </a:solidFill>
                <a:latin typeface="Faustina"/>
                <a:ea typeface="Faustina"/>
                <a:cs typeface="Faustina"/>
                <a:sym typeface="Faustina"/>
              </a:rPr>
              <a:t>b. Mục đích:</a:t>
            </a:r>
          </a:p>
          <a:p>
            <a:pPr marL="0" lvl="0" indent="0" algn="just">
              <a:lnSpc>
                <a:spcPts val="3357"/>
              </a:lnSpc>
              <a:spcBef>
                <a:spcPct val="0"/>
              </a:spcBef>
            </a:pPr>
            <a:r>
              <a:rPr lang="en-US" sz="2798" u="none" strike="noStrike">
                <a:solidFill>
                  <a:srgbClr val="323232"/>
                </a:solidFill>
                <a:latin typeface="Faustina"/>
                <a:ea typeface="Faustina"/>
                <a:cs typeface="Faustina"/>
                <a:sym typeface="Faustina"/>
              </a:rPr>
              <a:t>– Giúp điều hướng giữa các trang nhanh, gọn, không cần context.</a:t>
            </a:r>
          </a:p>
          <a:p>
            <a:pPr algn="just">
              <a:lnSpc>
                <a:spcPts val="3357"/>
              </a:lnSpc>
              <a:spcBef>
                <a:spcPct val="0"/>
              </a:spcBef>
            </a:pPr>
            <a:r>
              <a:rPr lang="en-US" sz="2798" u="none" strike="noStrike">
                <a:solidFill>
                  <a:srgbClr val="323232"/>
                </a:solidFill>
                <a:latin typeface="Faustina"/>
                <a:ea typeface="Faustina"/>
                <a:cs typeface="Faustina"/>
                <a:sym typeface="Faustina"/>
              </a:rPr>
              <a:t>– Quản lý tất cả route ở một nơi: app_routes.dart.</a:t>
            </a:r>
          </a:p>
          <a:p>
            <a:pPr marL="0" lvl="0" indent="0" algn="just">
              <a:lnSpc>
                <a:spcPts val="3357"/>
              </a:lnSpc>
              <a:spcBef>
                <a:spcPct val="0"/>
              </a:spcBef>
            </a:pPr>
            <a:endParaRPr lang="en-US" sz="2798" u="none" strike="noStrike">
              <a:solidFill>
                <a:srgbClr val="323232"/>
              </a:solidFill>
              <a:latin typeface="Faustina"/>
              <a:ea typeface="Faustina"/>
              <a:cs typeface="Faustina"/>
              <a:sym typeface="Faustina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1989552" y="3572878"/>
            <a:ext cx="3597622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i="1">
                <a:solidFill>
                  <a:srgbClr val="323232"/>
                </a:solidFill>
                <a:latin typeface="Noto Serif Display Italics"/>
                <a:ea typeface="Noto Serif Display Italics"/>
                <a:cs typeface="Noto Serif Display Italics"/>
                <a:sym typeface="Noto Serif Display Italics"/>
              </a:rPr>
              <a:t>Thư mục sử dụng: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04169" y="5127772"/>
            <a:ext cx="2127498" cy="4566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05"/>
              </a:lnSpc>
            </a:pPr>
            <a:r>
              <a:rPr lang="en-US" sz="2646" b="1" i="1">
                <a:solidFill>
                  <a:srgbClr val="323232"/>
                </a:solidFill>
                <a:latin typeface="Noto Serif Display Bold Italics"/>
                <a:ea typeface="Noto Serif Display Bold Italics"/>
                <a:cs typeface="Noto Serif Display Bold Italics"/>
                <a:sym typeface="Noto Serif Display Bold Italics"/>
              </a:rPr>
              <a:t>Điều hướng: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199810" y="6069289"/>
            <a:ext cx="2773797" cy="4566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05"/>
              </a:lnSpc>
            </a:pPr>
            <a:r>
              <a:rPr lang="en-US" sz="2646" b="1" i="1">
                <a:solidFill>
                  <a:srgbClr val="323232"/>
                </a:solidFill>
                <a:latin typeface="Noto Serif Display Bold Italics"/>
                <a:ea typeface="Noto Serif Display Bold Italics"/>
                <a:cs typeface="Noto Serif Display Bold Italics"/>
                <a:sym typeface="Noto Serif Display Bold Italics"/>
              </a:rPr>
              <a:t>Truyền dữ liệu: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"/>
            <a:chOff x="0" y="0"/>
            <a:chExt cx="4816593" cy="2709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70933"/>
            </a:xfrm>
            <a:custGeom>
              <a:avLst/>
              <a:gdLst/>
              <a:ahLst/>
              <a:cxnLst/>
              <a:rect l="l" t="t" r="r" b="b"/>
              <a:pathLst>
                <a:path w="4816592" h="270933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94B1C6"/>
            </a:solidFill>
          </p:spPr>
          <p:txBody>
            <a:bodyPr/>
            <a:lstStyle/>
            <a:p>
              <a:endParaRPr lang="vi-V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816593" cy="2995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3680963" y="2375451"/>
            <a:ext cx="10926073" cy="7074632"/>
          </a:xfrm>
          <a:custGeom>
            <a:avLst/>
            <a:gdLst/>
            <a:ahLst/>
            <a:cxnLst/>
            <a:rect l="l" t="t" r="r" b="b"/>
            <a:pathLst>
              <a:path w="10926073" h="7074632">
                <a:moveTo>
                  <a:pt x="0" y="0"/>
                </a:moveTo>
                <a:lnTo>
                  <a:pt x="10926074" y="0"/>
                </a:lnTo>
                <a:lnTo>
                  <a:pt x="10926074" y="7074632"/>
                </a:lnTo>
                <a:lnTo>
                  <a:pt x="0" y="70746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6" name="TextBox 6"/>
          <p:cNvSpPr txBox="1"/>
          <p:nvPr/>
        </p:nvSpPr>
        <p:spPr>
          <a:xfrm>
            <a:off x="570266" y="942975"/>
            <a:ext cx="7231601" cy="646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97"/>
              </a:lnSpc>
            </a:pPr>
            <a:r>
              <a:rPr lang="en-US" sz="3712" b="1">
                <a:solidFill>
                  <a:srgbClr val="000000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 Ví dụ: app_routes.dart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254292"/>
            <a:chOff x="0" y="0"/>
            <a:chExt cx="4816593" cy="33034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30349"/>
            </a:xfrm>
            <a:custGeom>
              <a:avLst/>
              <a:gdLst/>
              <a:ahLst/>
              <a:cxnLst/>
              <a:rect l="l" t="t" r="r" b="b"/>
              <a:pathLst>
                <a:path w="4816592" h="330349">
                  <a:moveTo>
                    <a:pt x="0" y="0"/>
                  </a:moveTo>
                  <a:lnTo>
                    <a:pt x="4816592" y="0"/>
                  </a:lnTo>
                  <a:lnTo>
                    <a:pt x="4816592" y="330349"/>
                  </a:lnTo>
                  <a:lnTo>
                    <a:pt x="0" y="330349"/>
                  </a:lnTo>
                  <a:close/>
                </a:path>
              </a:pathLst>
            </a:custGeom>
            <a:solidFill>
              <a:srgbClr val="94B1C6"/>
            </a:solidFill>
          </p:spPr>
          <p:txBody>
            <a:bodyPr/>
            <a:lstStyle/>
            <a:p>
              <a:endParaRPr lang="vi-V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816593" cy="3589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51753" y="83604"/>
            <a:ext cx="11357792" cy="9727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25"/>
              </a:lnSpc>
            </a:pPr>
            <a:r>
              <a:rPr lang="en-US" sz="5661" b="1">
                <a:solidFill>
                  <a:srgbClr val="32323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3. Nội dung và cách triển khai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26209" y="1609866"/>
            <a:ext cx="9619492" cy="5496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00"/>
              </a:lnSpc>
            </a:pPr>
            <a:r>
              <a:rPr lang="en-US" sz="3071" b="1">
                <a:solidFill>
                  <a:srgbClr val="323232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3.5. Performance Benefits và Use Cases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051023" y="2379140"/>
            <a:ext cx="3782323" cy="415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357"/>
              </a:lnSpc>
              <a:spcBef>
                <a:spcPct val="0"/>
              </a:spcBef>
            </a:pPr>
            <a:r>
              <a:rPr lang="en-US" sz="2798">
                <a:solidFill>
                  <a:srgbClr val="323232"/>
                </a:solidFill>
                <a:latin typeface="Faustina"/>
                <a:ea typeface="Faustina"/>
                <a:cs typeface="Faustina"/>
                <a:sym typeface="Faustina"/>
              </a:rPr>
              <a:t>a. Performance Benefits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095573" y="2982780"/>
            <a:ext cx="12504016" cy="840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095" lvl="1" indent="-302047" algn="just">
              <a:lnSpc>
                <a:spcPts val="3357"/>
              </a:lnSpc>
              <a:spcBef>
                <a:spcPct val="0"/>
              </a:spcBef>
              <a:buFont typeface="Arial"/>
              <a:buChar char="•"/>
            </a:pPr>
            <a:r>
              <a:rPr lang="en-US" sz="2798">
                <a:solidFill>
                  <a:srgbClr val="323232"/>
                </a:solidFill>
                <a:latin typeface="Faustina"/>
                <a:ea typeface="Faustina"/>
                <a:cs typeface="Faustina"/>
                <a:sym typeface="Faustina"/>
              </a:rPr>
              <a:t>Không cần build lại toàn bộ widget tree, chỉ có những widget có dữ liệu thay đổi mới cần rebuild.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095573" y="4014190"/>
            <a:ext cx="9612758" cy="415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095" lvl="1" indent="-302047" algn="just">
              <a:lnSpc>
                <a:spcPts val="3357"/>
              </a:lnSpc>
              <a:spcBef>
                <a:spcPct val="0"/>
              </a:spcBef>
              <a:buFont typeface="Arial"/>
              <a:buChar char="•"/>
            </a:pPr>
            <a:r>
              <a:rPr lang="en-US" sz="2798">
                <a:solidFill>
                  <a:srgbClr val="323232"/>
                </a:solidFill>
                <a:latin typeface="Faustina"/>
                <a:ea typeface="Faustina"/>
                <a:cs typeface="Faustina"/>
                <a:sym typeface="Faustina"/>
              </a:rPr>
              <a:t>Không cần buildcontext để gọi Navigation, Snackbar,...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095573" y="4727807"/>
            <a:ext cx="9612758" cy="415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095" lvl="1" indent="-302047" algn="just">
              <a:lnSpc>
                <a:spcPts val="3357"/>
              </a:lnSpc>
              <a:spcBef>
                <a:spcPct val="0"/>
              </a:spcBef>
              <a:buFont typeface="Arial"/>
              <a:buChar char="•"/>
            </a:pPr>
            <a:r>
              <a:rPr lang="en-US" sz="2798">
                <a:solidFill>
                  <a:srgbClr val="323232"/>
                </a:solidFill>
                <a:latin typeface="Faustina"/>
                <a:ea typeface="Faustina"/>
                <a:cs typeface="Faustina"/>
                <a:sym typeface="Faustina"/>
              </a:rPr>
              <a:t>Tối ưu bộ nhớ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051023" y="5293250"/>
            <a:ext cx="2089100" cy="415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357"/>
              </a:lnSpc>
              <a:spcBef>
                <a:spcPct val="0"/>
              </a:spcBef>
            </a:pPr>
            <a:r>
              <a:rPr lang="en-US" sz="2798">
                <a:solidFill>
                  <a:srgbClr val="323232"/>
                </a:solidFill>
                <a:latin typeface="Faustina"/>
                <a:ea typeface="Faustina"/>
                <a:cs typeface="Faustina"/>
                <a:sym typeface="Faustina"/>
              </a:rPr>
              <a:t>b. Use Cases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095573" y="5861343"/>
            <a:ext cx="11593509" cy="415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095" lvl="1" indent="-302047" algn="just">
              <a:lnSpc>
                <a:spcPts val="3357"/>
              </a:lnSpc>
              <a:spcBef>
                <a:spcPct val="0"/>
              </a:spcBef>
              <a:buFont typeface="Arial"/>
              <a:buChar char="•"/>
            </a:pPr>
            <a:r>
              <a:rPr lang="en-US" sz="2798">
                <a:solidFill>
                  <a:srgbClr val="323232"/>
                </a:solidFill>
                <a:latin typeface="Faustina"/>
                <a:ea typeface="Faustina"/>
                <a:cs typeface="Faustina"/>
                <a:sym typeface="Faustina"/>
              </a:rPr>
              <a:t>Stage Management: theo dõi và cập nhật dữ liệu ttheo thời gian thực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095573" y="6496111"/>
            <a:ext cx="11593509" cy="415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095" lvl="1" indent="-302047" algn="just">
              <a:lnSpc>
                <a:spcPts val="3357"/>
              </a:lnSpc>
              <a:spcBef>
                <a:spcPct val="0"/>
              </a:spcBef>
              <a:buFont typeface="Arial"/>
              <a:buChar char="•"/>
            </a:pPr>
            <a:r>
              <a:rPr lang="en-US" sz="2798">
                <a:solidFill>
                  <a:srgbClr val="323232"/>
                </a:solidFill>
                <a:latin typeface="Faustina"/>
                <a:ea typeface="Faustina"/>
                <a:cs typeface="Faustina"/>
                <a:sym typeface="Faustina"/>
              </a:rPr>
              <a:t>Dependency Injection:  quản lý các controller hay service xuyên suốt app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095573" y="7130878"/>
            <a:ext cx="11593509" cy="415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095" lvl="1" indent="-302047" algn="just">
              <a:lnSpc>
                <a:spcPts val="3357"/>
              </a:lnSpc>
              <a:spcBef>
                <a:spcPct val="0"/>
              </a:spcBef>
              <a:buFont typeface="Arial"/>
              <a:buChar char="•"/>
            </a:pPr>
            <a:r>
              <a:rPr lang="en-US" sz="2798">
                <a:solidFill>
                  <a:srgbClr val="323232"/>
                </a:solidFill>
                <a:latin typeface="Faustina"/>
                <a:ea typeface="Faustina"/>
                <a:cs typeface="Faustina"/>
                <a:sym typeface="Faustina"/>
              </a:rPr>
              <a:t>Route Management:  điều hướng mà không cần context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095573" y="7841846"/>
            <a:ext cx="11593509" cy="415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095" lvl="1" indent="-302047" algn="just">
              <a:lnSpc>
                <a:spcPts val="3357"/>
              </a:lnSpc>
              <a:spcBef>
                <a:spcPct val="0"/>
              </a:spcBef>
              <a:buFont typeface="Arial"/>
              <a:buChar char="•"/>
            </a:pPr>
            <a:r>
              <a:rPr lang="en-US" sz="2798">
                <a:solidFill>
                  <a:srgbClr val="323232"/>
                </a:solidFill>
                <a:latin typeface="Faustina"/>
                <a:ea typeface="Faustina"/>
                <a:cs typeface="Faustina"/>
                <a:sym typeface="Faustina"/>
              </a:rPr>
              <a:t>Reactive Programming:  tự động cập nhật UI khi biến thay đổi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095573" y="8476613"/>
            <a:ext cx="11593509" cy="415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095" lvl="1" indent="-302047" algn="just">
              <a:lnSpc>
                <a:spcPts val="3357"/>
              </a:lnSpc>
              <a:spcBef>
                <a:spcPct val="0"/>
              </a:spcBef>
              <a:buFont typeface="Arial"/>
              <a:buChar char="•"/>
            </a:pPr>
            <a:r>
              <a:rPr lang="en-US" sz="2798">
                <a:solidFill>
                  <a:srgbClr val="323232"/>
                </a:solidFill>
                <a:latin typeface="Faustina"/>
                <a:ea typeface="Faustina"/>
                <a:cs typeface="Faustina"/>
                <a:sym typeface="Faustina"/>
              </a:rPr>
              <a:t>Global State Sharing:  Chia sẻ dữ liệu giữa nhiều màn hình dễ dàng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254292"/>
            <a:chOff x="0" y="0"/>
            <a:chExt cx="4816593" cy="33034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30349"/>
            </a:xfrm>
            <a:custGeom>
              <a:avLst/>
              <a:gdLst/>
              <a:ahLst/>
              <a:cxnLst/>
              <a:rect l="l" t="t" r="r" b="b"/>
              <a:pathLst>
                <a:path w="4816592" h="330349">
                  <a:moveTo>
                    <a:pt x="0" y="0"/>
                  </a:moveTo>
                  <a:lnTo>
                    <a:pt x="4816592" y="0"/>
                  </a:lnTo>
                  <a:lnTo>
                    <a:pt x="4816592" y="330349"/>
                  </a:lnTo>
                  <a:lnTo>
                    <a:pt x="0" y="330349"/>
                  </a:lnTo>
                  <a:close/>
                </a:path>
              </a:pathLst>
            </a:custGeom>
            <a:solidFill>
              <a:srgbClr val="94B1C6"/>
            </a:solidFill>
          </p:spPr>
          <p:txBody>
            <a:bodyPr/>
            <a:lstStyle/>
            <a:p>
              <a:endParaRPr lang="vi-V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816593" cy="3589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028700" y="3043717"/>
            <a:ext cx="5363633" cy="5280605"/>
          </a:xfrm>
          <a:custGeom>
            <a:avLst/>
            <a:gdLst/>
            <a:ahLst/>
            <a:cxnLst/>
            <a:rect l="l" t="t" r="r" b="b"/>
            <a:pathLst>
              <a:path w="5363633" h="5280605">
                <a:moveTo>
                  <a:pt x="0" y="0"/>
                </a:moveTo>
                <a:lnTo>
                  <a:pt x="5363633" y="0"/>
                </a:lnTo>
                <a:lnTo>
                  <a:pt x="5363633" y="5280605"/>
                </a:lnTo>
                <a:lnTo>
                  <a:pt x="0" y="52806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6" name="Freeform 6"/>
          <p:cNvSpPr/>
          <p:nvPr/>
        </p:nvSpPr>
        <p:spPr>
          <a:xfrm>
            <a:off x="6468971" y="3043717"/>
            <a:ext cx="5636940" cy="5121257"/>
          </a:xfrm>
          <a:custGeom>
            <a:avLst/>
            <a:gdLst/>
            <a:ahLst/>
            <a:cxnLst/>
            <a:rect l="l" t="t" r="r" b="b"/>
            <a:pathLst>
              <a:path w="5636940" h="5121257">
                <a:moveTo>
                  <a:pt x="0" y="0"/>
                </a:moveTo>
                <a:lnTo>
                  <a:pt x="5636940" y="0"/>
                </a:lnTo>
                <a:lnTo>
                  <a:pt x="5636940" y="5121258"/>
                </a:lnTo>
                <a:lnTo>
                  <a:pt x="0" y="5121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7" name="TextBox 7"/>
          <p:cNvSpPr txBox="1"/>
          <p:nvPr/>
        </p:nvSpPr>
        <p:spPr>
          <a:xfrm>
            <a:off x="351753" y="83604"/>
            <a:ext cx="11357792" cy="9727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25"/>
              </a:lnSpc>
            </a:pPr>
            <a:r>
              <a:rPr lang="en-US" sz="5661" b="1">
                <a:solidFill>
                  <a:srgbClr val="32323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3. Nội dung và cách triển khai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26209" y="1609866"/>
            <a:ext cx="9619492" cy="5496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00"/>
              </a:lnSpc>
            </a:pPr>
            <a:r>
              <a:rPr lang="en-US" sz="3071" b="1">
                <a:solidFill>
                  <a:srgbClr val="323232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3.5. Performance Benefits và Use Cases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344401" y="3388692"/>
            <a:ext cx="4165694" cy="1266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57"/>
              </a:lnSpc>
              <a:spcBef>
                <a:spcPct val="0"/>
              </a:spcBef>
            </a:pPr>
            <a:r>
              <a:rPr lang="en-US" sz="2798">
                <a:solidFill>
                  <a:srgbClr val="323232"/>
                </a:solidFill>
                <a:latin typeface="Faustina"/>
                <a:ea typeface="Faustina"/>
                <a:cs typeface="Faustina"/>
                <a:sym typeface="Faustina"/>
              </a:rPr>
              <a:t>Rebuild chính xác, không dư thừa (UI chỉ cập nhật khi dữ liệu thay đổi)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344401" y="5886877"/>
            <a:ext cx="4810420" cy="1266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57"/>
              </a:lnSpc>
              <a:spcBef>
                <a:spcPct val="0"/>
              </a:spcBef>
            </a:pPr>
            <a:r>
              <a:rPr lang="en-US" sz="2798">
                <a:solidFill>
                  <a:srgbClr val="323232"/>
                </a:solidFill>
                <a:latin typeface="Faustina"/>
                <a:ea typeface="Faustina"/>
                <a:cs typeface="Faustina"/>
                <a:sym typeface="Faustina"/>
              </a:rPr>
              <a:t>Khi cart.items thay đổi thì chỉ phần body này được rebuild mà không phải toàn bộ màn hình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254292"/>
            <a:chOff x="0" y="0"/>
            <a:chExt cx="4816593" cy="33034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30349"/>
            </a:xfrm>
            <a:custGeom>
              <a:avLst/>
              <a:gdLst/>
              <a:ahLst/>
              <a:cxnLst/>
              <a:rect l="l" t="t" r="r" b="b"/>
              <a:pathLst>
                <a:path w="4816592" h="330349">
                  <a:moveTo>
                    <a:pt x="0" y="0"/>
                  </a:moveTo>
                  <a:lnTo>
                    <a:pt x="4816592" y="0"/>
                  </a:lnTo>
                  <a:lnTo>
                    <a:pt x="4816592" y="330349"/>
                  </a:lnTo>
                  <a:lnTo>
                    <a:pt x="0" y="330349"/>
                  </a:lnTo>
                  <a:close/>
                </a:path>
              </a:pathLst>
            </a:custGeom>
            <a:solidFill>
              <a:srgbClr val="94B1C6"/>
            </a:solidFill>
          </p:spPr>
          <p:txBody>
            <a:bodyPr/>
            <a:lstStyle/>
            <a:p>
              <a:endParaRPr lang="vi-V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816593" cy="3589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666013" y="2919168"/>
            <a:ext cx="6774422" cy="4494357"/>
          </a:xfrm>
          <a:custGeom>
            <a:avLst/>
            <a:gdLst/>
            <a:ahLst/>
            <a:cxnLst/>
            <a:rect l="l" t="t" r="r" b="b"/>
            <a:pathLst>
              <a:path w="6774422" h="4494357">
                <a:moveTo>
                  <a:pt x="0" y="0"/>
                </a:moveTo>
                <a:lnTo>
                  <a:pt x="6774422" y="0"/>
                </a:lnTo>
                <a:lnTo>
                  <a:pt x="6774422" y="4494358"/>
                </a:lnTo>
                <a:lnTo>
                  <a:pt x="0" y="44943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6" name="TextBox 6"/>
          <p:cNvSpPr txBox="1"/>
          <p:nvPr/>
        </p:nvSpPr>
        <p:spPr>
          <a:xfrm>
            <a:off x="351753" y="83604"/>
            <a:ext cx="11357792" cy="9727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25"/>
              </a:lnSpc>
            </a:pPr>
            <a:r>
              <a:rPr lang="en-US" sz="5661" b="1">
                <a:solidFill>
                  <a:srgbClr val="32323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3. Nội dung và cách triển khai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26209" y="1609866"/>
            <a:ext cx="9619492" cy="5496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00"/>
              </a:lnSpc>
            </a:pPr>
            <a:r>
              <a:rPr lang="en-US" sz="3071" b="1">
                <a:solidFill>
                  <a:srgbClr val="323232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3.5. Performance Benefits và Use Cases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734323" y="4187382"/>
            <a:ext cx="6945134" cy="840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57"/>
              </a:lnSpc>
              <a:spcBef>
                <a:spcPct val="0"/>
              </a:spcBef>
            </a:pPr>
            <a:r>
              <a:rPr lang="en-US" sz="2798">
                <a:solidFill>
                  <a:srgbClr val="323232"/>
                </a:solidFill>
                <a:latin typeface="Faustina"/>
                <a:ea typeface="Faustina"/>
                <a:cs typeface="Faustina"/>
                <a:sym typeface="Faustina"/>
              </a:rPr>
              <a:t>Không cần BuildContext. giảm việc truyền context qua nhiều widget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601487" y="5807951"/>
            <a:ext cx="6216114" cy="415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57"/>
              </a:lnSpc>
              <a:spcBef>
                <a:spcPct val="0"/>
              </a:spcBef>
            </a:pPr>
            <a:r>
              <a:rPr lang="en-US" sz="2798">
                <a:solidFill>
                  <a:srgbClr val="323232"/>
                </a:solidFill>
                <a:latin typeface="Faustina"/>
                <a:ea typeface="Faustina"/>
                <a:cs typeface="Faustina"/>
                <a:sym typeface="Faustina"/>
              </a:rPr>
              <a:t>Không cần ScaffoldMessenger.of(context)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254292"/>
            <a:chOff x="0" y="0"/>
            <a:chExt cx="4816593" cy="33034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30349"/>
            </a:xfrm>
            <a:custGeom>
              <a:avLst/>
              <a:gdLst/>
              <a:ahLst/>
              <a:cxnLst/>
              <a:rect l="l" t="t" r="r" b="b"/>
              <a:pathLst>
                <a:path w="4816592" h="330349">
                  <a:moveTo>
                    <a:pt x="0" y="0"/>
                  </a:moveTo>
                  <a:lnTo>
                    <a:pt x="4816592" y="0"/>
                  </a:lnTo>
                  <a:lnTo>
                    <a:pt x="4816592" y="330349"/>
                  </a:lnTo>
                  <a:lnTo>
                    <a:pt x="0" y="330349"/>
                  </a:lnTo>
                  <a:close/>
                </a:path>
              </a:pathLst>
            </a:custGeom>
            <a:solidFill>
              <a:srgbClr val="94B1C6"/>
            </a:solidFill>
          </p:spPr>
          <p:txBody>
            <a:bodyPr/>
            <a:lstStyle/>
            <a:p>
              <a:endParaRPr lang="vi-V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816593" cy="3589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2195476" y="2788137"/>
            <a:ext cx="6091260" cy="6332876"/>
          </a:xfrm>
          <a:custGeom>
            <a:avLst/>
            <a:gdLst/>
            <a:ahLst/>
            <a:cxnLst/>
            <a:rect l="l" t="t" r="r" b="b"/>
            <a:pathLst>
              <a:path w="6091260" h="6332876">
                <a:moveTo>
                  <a:pt x="0" y="0"/>
                </a:moveTo>
                <a:lnTo>
                  <a:pt x="6091260" y="0"/>
                </a:lnTo>
                <a:lnTo>
                  <a:pt x="6091260" y="6332876"/>
                </a:lnTo>
                <a:lnTo>
                  <a:pt x="0" y="63328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6" name="TextBox 6"/>
          <p:cNvSpPr txBox="1"/>
          <p:nvPr/>
        </p:nvSpPr>
        <p:spPr>
          <a:xfrm>
            <a:off x="351753" y="83604"/>
            <a:ext cx="11357792" cy="9727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25"/>
              </a:lnSpc>
            </a:pPr>
            <a:r>
              <a:rPr lang="en-US" sz="5661" b="1">
                <a:solidFill>
                  <a:srgbClr val="32323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3. Nội dung và cách triển khai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26209" y="1609866"/>
            <a:ext cx="9619492" cy="5496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00"/>
              </a:lnSpc>
            </a:pPr>
            <a:r>
              <a:rPr lang="en-US" sz="3071" b="1">
                <a:solidFill>
                  <a:srgbClr val="323232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3.5. Performance Benefits và Use Cases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735052" y="3727951"/>
            <a:ext cx="6945134" cy="415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57"/>
              </a:lnSpc>
              <a:spcBef>
                <a:spcPct val="0"/>
              </a:spcBef>
            </a:pPr>
            <a:r>
              <a:rPr lang="en-US" sz="2798">
                <a:solidFill>
                  <a:srgbClr val="323232"/>
                </a:solidFill>
                <a:latin typeface="Faustina"/>
                <a:ea typeface="Faustina"/>
                <a:cs typeface="Faustina"/>
                <a:sym typeface="Faustina"/>
              </a:rPr>
              <a:t>Quản lý state + controller nhẹ và tự động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735052" y="5855872"/>
            <a:ext cx="6743250" cy="840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57"/>
              </a:lnSpc>
              <a:spcBef>
                <a:spcPct val="0"/>
              </a:spcBef>
            </a:pPr>
            <a:r>
              <a:rPr lang="en-US" sz="2798">
                <a:solidFill>
                  <a:srgbClr val="323232"/>
                </a:solidFill>
                <a:latin typeface="Faustina"/>
                <a:ea typeface="Faustina"/>
                <a:cs typeface="Faustina"/>
                <a:sym typeface="Faustina"/>
              </a:rPr>
              <a:t>Các controller này tồn tại xuyên suốt app mà không tạo lại, tiết kiệm bộ nhớ.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254292"/>
            <a:chOff x="0" y="0"/>
            <a:chExt cx="4816593" cy="33034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30349"/>
            </a:xfrm>
            <a:custGeom>
              <a:avLst/>
              <a:gdLst/>
              <a:ahLst/>
              <a:cxnLst/>
              <a:rect l="l" t="t" r="r" b="b"/>
              <a:pathLst>
                <a:path w="4816592" h="330349">
                  <a:moveTo>
                    <a:pt x="0" y="0"/>
                  </a:moveTo>
                  <a:lnTo>
                    <a:pt x="4816592" y="0"/>
                  </a:lnTo>
                  <a:lnTo>
                    <a:pt x="4816592" y="330349"/>
                  </a:lnTo>
                  <a:lnTo>
                    <a:pt x="0" y="330349"/>
                  </a:lnTo>
                  <a:close/>
                </a:path>
              </a:pathLst>
            </a:custGeom>
            <a:solidFill>
              <a:srgbClr val="94B1C6"/>
            </a:solidFill>
          </p:spPr>
          <p:txBody>
            <a:bodyPr/>
            <a:lstStyle/>
            <a:p>
              <a:endParaRPr lang="vi-V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816593" cy="3589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631741" y="3718426"/>
            <a:ext cx="6035982" cy="1736570"/>
          </a:xfrm>
          <a:custGeom>
            <a:avLst/>
            <a:gdLst/>
            <a:ahLst/>
            <a:cxnLst/>
            <a:rect l="l" t="t" r="r" b="b"/>
            <a:pathLst>
              <a:path w="6035982" h="1736570">
                <a:moveTo>
                  <a:pt x="0" y="0"/>
                </a:moveTo>
                <a:lnTo>
                  <a:pt x="6035983" y="0"/>
                </a:lnTo>
                <a:lnTo>
                  <a:pt x="6035983" y="1736570"/>
                </a:lnTo>
                <a:lnTo>
                  <a:pt x="0" y="17365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6" name="TextBox 6"/>
          <p:cNvSpPr txBox="1"/>
          <p:nvPr/>
        </p:nvSpPr>
        <p:spPr>
          <a:xfrm>
            <a:off x="351753" y="83604"/>
            <a:ext cx="11357792" cy="9727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25"/>
              </a:lnSpc>
            </a:pPr>
            <a:r>
              <a:rPr lang="en-US" sz="5661" b="1">
                <a:solidFill>
                  <a:srgbClr val="32323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3. Nội dung và cách triển khai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26209" y="1609866"/>
            <a:ext cx="9619492" cy="5496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00"/>
              </a:lnSpc>
            </a:pPr>
            <a:r>
              <a:rPr lang="en-US" sz="3071" b="1">
                <a:solidFill>
                  <a:srgbClr val="323232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3.5. Performance Benefits và Use Cases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236977" y="4066223"/>
            <a:ext cx="6945134" cy="415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57"/>
              </a:lnSpc>
              <a:spcBef>
                <a:spcPct val="0"/>
              </a:spcBef>
            </a:pPr>
            <a:r>
              <a:rPr lang="en-US" sz="2798">
                <a:solidFill>
                  <a:srgbClr val="323232"/>
                </a:solidFill>
                <a:latin typeface="Faustina"/>
                <a:ea typeface="Faustina"/>
                <a:cs typeface="Faustina"/>
                <a:sym typeface="Faustina"/>
              </a:rPr>
              <a:t> Reactive update siêu nhanh nhờ Rx system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441466" y="6388653"/>
            <a:ext cx="9874114" cy="1266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57"/>
              </a:lnSpc>
              <a:spcBef>
                <a:spcPct val="0"/>
              </a:spcBef>
            </a:pPr>
            <a:r>
              <a:rPr lang="en-US" sz="2798">
                <a:solidFill>
                  <a:srgbClr val="323232"/>
                </a:solidFill>
                <a:latin typeface="Faustina"/>
                <a:ea typeface="Faustina"/>
                <a:cs typeface="Faustina"/>
                <a:sym typeface="Faustina"/>
              </a:rPr>
              <a:t>Trong HomePage: dart Obx(() =&gt; cartController.count == 0 ? SizedBox.shrink() : CircleAvatar(...));   Chỉ rebuild số lượng trên icon giỏ hàng, rất nhẹ và nhanh.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254292"/>
            <a:chOff x="0" y="0"/>
            <a:chExt cx="4816593" cy="33034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30349"/>
            </a:xfrm>
            <a:custGeom>
              <a:avLst/>
              <a:gdLst/>
              <a:ahLst/>
              <a:cxnLst/>
              <a:rect l="l" t="t" r="r" b="b"/>
              <a:pathLst>
                <a:path w="4816592" h="330349">
                  <a:moveTo>
                    <a:pt x="0" y="0"/>
                  </a:moveTo>
                  <a:lnTo>
                    <a:pt x="4816592" y="0"/>
                  </a:lnTo>
                  <a:lnTo>
                    <a:pt x="4816592" y="330349"/>
                  </a:lnTo>
                  <a:lnTo>
                    <a:pt x="0" y="330349"/>
                  </a:lnTo>
                  <a:close/>
                </a:path>
              </a:pathLst>
            </a:custGeom>
            <a:solidFill>
              <a:srgbClr val="94B1C6"/>
            </a:solidFill>
          </p:spPr>
          <p:txBody>
            <a:bodyPr/>
            <a:lstStyle/>
            <a:p>
              <a:endParaRPr lang="vi-V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816593" cy="3589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3095490" y="3827701"/>
            <a:ext cx="3926001" cy="1763065"/>
          </a:xfrm>
          <a:custGeom>
            <a:avLst/>
            <a:gdLst/>
            <a:ahLst/>
            <a:cxnLst/>
            <a:rect l="l" t="t" r="r" b="b"/>
            <a:pathLst>
              <a:path w="3926001" h="1763065">
                <a:moveTo>
                  <a:pt x="0" y="0"/>
                </a:moveTo>
                <a:lnTo>
                  <a:pt x="3926001" y="0"/>
                </a:lnTo>
                <a:lnTo>
                  <a:pt x="3926001" y="1763065"/>
                </a:lnTo>
                <a:lnTo>
                  <a:pt x="0" y="17630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6" name="TextBox 6"/>
          <p:cNvSpPr txBox="1"/>
          <p:nvPr/>
        </p:nvSpPr>
        <p:spPr>
          <a:xfrm>
            <a:off x="351753" y="83604"/>
            <a:ext cx="11357792" cy="9727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25"/>
              </a:lnSpc>
            </a:pPr>
            <a:r>
              <a:rPr lang="en-US" sz="5661" b="1">
                <a:solidFill>
                  <a:srgbClr val="32323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3. Nội dung và cách triển khai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26209" y="1609866"/>
            <a:ext cx="9619492" cy="5496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00"/>
              </a:lnSpc>
            </a:pPr>
            <a:r>
              <a:rPr lang="en-US" sz="3071" b="1">
                <a:solidFill>
                  <a:srgbClr val="323232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3.5. Performance Benefits và Use Cases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788073" y="4090399"/>
            <a:ext cx="5842943" cy="840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57"/>
              </a:lnSpc>
              <a:spcBef>
                <a:spcPct val="0"/>
              </a:spcBef>
            </a:pPr>
            <a:r>
              <a:rPr lang="en-US" sz="2798">
                <a:solidFill>
                  <a:srgbClr val="323232"/>
                </a:solidFill>
                <a:latin typeface="Faustina"/>
                <a:ea typeface="Faustina"/>
                <a:cs typeface="Faustina"/>
                <a:sym typeface="Faustina"/>
              </a:rPr>
              <a:t>State Management: Quản lý danh sách sản phẩm, giỏ hàng, người dùng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451486" y="6372225"/>
            <a:ext cx="9874114" cy="840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57"/>
              </a:lnSpc>
              <a:spcBef>
                <a:spcPct val="0"/>
              </a:spcBef>
            </a:pPr>
            <a:r>
              <a:rPr lang="en-US" sz="2798">
                <a:solidFill>
                  <a:srgbClr val="323232"/>
                </a:solidFill>
                <a:latin typeface="Faustina"/>
                <a:ea typeface="Faustina"/>
                <a:cs typeface="Faustina"/>
                <a:sym typeface="Faustina"/>
              </a:rPr>
              <a:t>CartController, ProductController, UserController — mỗi cái giữ trạng thái riêng và được truy cập toàn cục.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254292"/>
            <a:chOff x="0" y="0"/>
            <a:chExt cx="4816593" cy="33034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30349"/>
            </a:xfrm>
            <a:custGeom>
              <a:avLst/>
              <a:gdLst/>
              <a:ahLst/>
              <a:cxnLst/>
              <a:rect l="l" t="t" r="r" b="b"/>
              <a:pathLst>
                <a:path w="4816592" h="330349">
                  <a:moveTo>
                    <a:pt x="0" y="0"/>
                  </a:moveTo>
                  <a:lnTo>
                    <a:pt x="4816592" y="0"/>
                  </a:lnTo>
                  <a:lnTo>
                    <a:pt x="4816592" y="330349"/>
                  </a:lnTo>
                  <a:lnTo>
                    <a:pt x="0" y="330349"/>
                  </a:lnTo>
                  <a:close/>
                </a:path>
              </a:pathLst>
            </a:custGeom>
            <a:solidFill>
              <a:srgbClr val="94B1C6"/>
            </a:solidFill>
          </p:spPr>
          <p:txBody>
            <a:bodyPr/>
            <a:lstStyle/>
            <a:p>
              <a:endParaRPr lang="vi-V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816593" cy="3589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2616757" y="3509312"/>
            <a:ext cx="5539087" cy="2843994"/>
          </a:xfrm>
          <a:custGeom>
            <a:avLst/>
            <a:gdLst/>
            <a:ahLst/>
            <a:cxnLst/>
            <a:rect l="l" t="t" r="r" b="b"/>
            <a:pathLst>
              <a:path w="5539087" h="2843994">
                <a:moveTo>
                  <a:pt x="0" y="0"/>
                </a:moveTo>
                <a:lnTo>
                  <a:pt x="5539087" y="0"/>
                </a:lnTo>
                <a:lnTo>
                  <a:pt x="5539087" y="2843994"/>
                </a:lnTo>
                <a:lnTo>
                  <a:pt x="0" y="28439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6" name="TextBox 6"/>
          <p:cNvSpPr txBox="1"/>
          <p:nvPr/>
        </p:nvSpPr>
        <p:spPr>
          <a:xfrm>
            <a:off x="351753" y="83604"/>
            <a:ext cx="11357792" cy="9727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25"/>
              </a:lnSpc>
            </a:pPr>
            <a:r>
              <a:rPr lang="en-US" sz="5661" b="1">
                <a:solidFill>
                  <a:srgbClr val="32323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3. Nội dung và cách triển khai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26209" y="1609866"/>
            <a:ext cx="9619492" cy="5496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00"/>
              </a:lnSpc>
            </a:pPr>
            <a:r>
              <a:rPr lang="en-US" sz="3071" b="1">
                <a:solidFill>
                  <a:srgbClr val="323232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3.5. Performance Benefits và Use Cases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788073" y="4090399"/>
            <a:ext cx="7232663" cy="840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57"/>
              </a:lnSpc>
              <a:spcBef>
                <a:spcPct val="0"/>
              </a:spcBef>
            </a:pPr>
            <a:r>
              <a:rPr lang="en-US" sz="2798">
                <a:solidFill>
                  <a:srgbClr val="323232"/>
                </a:solidFill>
                <a:latin typeface="Faustina"/>
                <a:ea typeface="Faustina"/>
                <a:cs typeface="Faustina"/>
                <a:sym typeface="Faustina"/>
              </a:rPr>
              <a:t>Dependency Injection (DI): Dùng Get.put() để khởi tạo và quản lý vòng đời controller.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707067" y="7250784"/>
            <a:ext cx="9874114" cy="840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57"/>
              </a:lnSpc>
              <a:spcBef>
                <a:spcPct val="0"/>
              </a:spcBef>
            </a:pPr>
            <a:r>
              <a:rPr lang="en-US" sz="2798">
                <a:solidFill>
                  <a:srgbClr val="323232"/>
                </a:solidFill>
                <a:latin typeface="Faustina"/>
                <a:ea typeface="Faustina"/>
                <a:cs typeface="Faustina"/>
                <a:sym typeface="Faustina"/>
              </a:rPr>
              <a:t>Get.put(ProductController()); Get.put(CartController());  Không cần Provider hay InheritedWidget.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254292"/>
            <a:chOff x="0" y="0"/>
            <a:chExt cx="4816593" cy="33034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30349"/>
            </a:xfrm>
            <a:custGeom>
              <a:avLst/>
              <a:gdLst/>
              <a:ahLst/>
              <a:cxnLst/>
              <a:rect l="l" t="t" r="r" b="b"/>
              <a:pathLst>
                <a:path w="4816592" h="330349">
                  <a:moveTo>
                    <a:pt x="0" y="0"/>
                  </a:moveTo>
                  <a:lnTo>
                    <a:pt x="4816592" y="0"/>
                  </a:lnTo>
                  <a:lnTo>
                    <a:pt x="4816592" y="330349"/>
                  </a:lnTo>
                  <a:lnTo>
                    <a:pt x="0" y="330349"/>
                  </a:lnTo>
                  <a:close/>
                </a:path>
              </a:pathLst>
            </a:custGeom>
            <a:solidFill>
              <a:srgbClr val="94B1C6"/>
            </a:solidFill>
          </p:spPr>
          <p:txBody>
            <a:bodyPr/>
            <a:lstStyle/>
            <a:p>
              <a:endParaRPr lang="vi-V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816593" cy="3589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677833" y="4334665"/>
            <a:ext cx="7466167" cy="808835"/>
          </a:xfrm>
          <a:custGeom>
            <a:avLst/>
            <a:gdLst/>
            <a:ahLst/>
            <a:cxnLst/>
            <a:rect l="l" t="t" r="r" b="b"/>
            <a:pathLst>
              <a:path w="7466167" h="808835">
                <a:moveTo>
                  <a:pt x="0" y="0"/>
                </a:moveTo>
                <a:lnTo>
                  <a:pt x="7466167" y="0"/>
                </a:lnTo>
                <a:lnTo>
                  <a:pt x="7466167" y="808835"/>
                </a:lnTo>
                <a:lnTo>
                  <a:pt x="0" y="8088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6" name="Freeform 6"/>
          <p:cNvSpPr/>
          <p:nvPr/>
        </p:nvSpPr>
        <p:spPr>
          <a:xfrm>
            <a:off x="1677833" y="5894268"/>
            <a:ext cx="7466167" cy="1668484"/>
          </a:xfrm>
          <a:custGeom>
            <a:avLst/>
            <a:gdLst/>
            <a:ahLst/>
            <a:cxnLst/>
            <a:rect l="l" t="t" r="r" b="b"/>
            <a:pathLst>
              <a:path w="7466167" h="1668484">
                <a:moveTo>
                  <a:pt x="0" y="0"/>
                </a:moveTo>
                <a:lnTo>
                  <a:pt x="7466167" y="0"/>
                </a:lnTo>
                <a:lnTo>
                  <a:pt x="7466167" y="1668485"/>
                </a:lnTo>
                <a:lnTo>
                  <a:pt x="0" y="16684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7" name="TextBox 7"/>
          <p:cNvSpPr txBox="1"/>
          <p:nvPr/>
        </p:nvSpPr>
        <p:spPr>
          <a:xfrm>
            <a:off x="351753" y="83604"/>
            <a:ext cx="11357792" cy="9727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25"/>
              </a:lnSpc>
            </a:pPr>
            <a:r>
              <a:rPr lang="en-US" sz="5661" b="1">
                <a:solidFill>
                  <a:srgbClr val="32323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3. Nội dung và cách triển khai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26209" y="1609866"/>
            <a:ext cx="9619492" cy="5496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00"/>
              </a:lnSpc>
            </a:pPr>
            <a:r>
              <a:rPr lang="en-US" sz="3071" b="1">
                <a:solidFill>
                  <a:srgbClr val="323232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3.5. Performance Benefits và Use Cases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986310" y="2831383"/>
            <a:ext cx="7232663" cy="840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57"/>
              </a:lnSpc>
              <a:spcBef>
                <a:spcPct val="0"/>
              </a:spcBef>
            </a:pPr>
            <a:r>
              <a:rPr lang="en-US" sz="2798">
                <a:solidFill>
                  <a:srgbClr val="323232"/>
                </a:solidFill>
                <a:latin typeface="Faustina"/>
                <a:ea typeface="Faustina"/>
                <a:cs typeface="Faustina"/>
                <a:sym typeface="Faustina"/>
              </a:rPr>
              <a:t>Route Management: Điều hướng giữa các trang mà không cần Navigator.push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878795" y="6114838"/>
            <a:ext cx="5305608" cy="840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57"/>
              </a:lnSpc>
              <a:spcBef>
                <a:spcPct val="0"/>
              </a:spcBef>
            </a:pPr>
            <a:r>
              <a:rPr lang="en-US" sz="2798">
                <a:solidFill>
                  <a:srgbClr val="323232"/>
                </a:solidFill>
                <a:latin typeface="Faustina"/>
                <a:ea typeface="Faustina"/>
                <a:cs typeface="Faustina"/>
                <a:sym typeface="Faustina"/>
              </a:rPr>
              <a:t>Trong app_routes khai báo tất cả bằng GetPage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974637" y="4535999"/>
            <a:ext cx="5305608" cy="415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57"/>
              </a:lnSpc>
              <a:spcBef>
                <a:spcPct val="0"/>
              </a:spcBef>
            </a:pPr>
            <a:r>
              <a:rPr lang="en-US" sz="2798">
                <a:solidFill>
                  <a:srgbClr val="323232"/>
                </a:solidFill>
                <a:latin typeface="Faustina"/>
                <a:ea typeface="Faustina"/>
                <a:cs typeface="Faustina"/>
                <a:sym typeface="Faustina"/>
              </a:rPr>
              <a:t>Trong Product_tile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254292"/>
            <a:chOff x="0" y="0"/>
            <a:chExt cx="4816593" cy="33034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30349"/>
            </a:xfrm>
            <a:custGeom>
              <a:avLst/>
              <a:gdLst/>
              <a:ahLst/>
              <a:cxnLst/>
              <a:rect l="l" t="t" r="r" b="b"/>
              <a:pathLst>
                <a:path w="4816592" h="330349">
                  <a:moveTo>
                    <a:pt x="0" y="0"/>
                  </a:moveTo>
                  <a:lnTo>
                    <a:pt x="4816592" y="0"/>
                  </a:lnTo>
                  <a:lnTo>
                    <a:pt x="4816592" y="330349"/>
                  </a:lnTo>
                  <a:lnTo>
                    <a:pt x="0" y="330349"/>
                  </a:lnTo>
                  <a:close/>
                </a:path>
              </a:pathLst>
            </a:custGeom>
            <a:solidFill>
              <a:srgbClr val="94B1C6"/>
            </a:solidFill>
          </p:spPr>
          <p:txBody>
            <a:bodyPr/>
            <a:lstStyle/>
            <a:p>
              <a:endParaRPr lang="vi-V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816593" cy="3589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2776793" y="3329062"/>
            <a:ext cx="5718323" cy="2826915"/>
          </a:xfrm>
          <a:custGeom>
            <a:avLst/>
            <a:gdLst/>
            <a:ahLst/>
            <a:cxnLst/>
            <a:rect l="l" t="t" r="r" b="b"/>
            <a:pathLst>
              <a:path w="5718323" h="2826915">
                <a:moveTo>
                  <a:pt x="0" y="0"/>
                </a:moveTo>
                <a:lnTo>
                  <a:pt x="5718324" y="0"/>
                </a:lnTo>
                <a:lnTo>
                  <a:pt x="5718324" y="2826915"/>
                </a:lnTo>
                <a:lnTo>
                  <a:pt x="0" y="28269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6" name="Freeform 6"/>
          <p:cNvSpPr/>
          <p:nvPr/>
        </p:nvSpPr>
        <p:spPr>
          <a:xfrm>
            <a:off x="2944953" y="6237963"/>
            <a:ext cx="5382003" cy="3564082"/>
          </a:xfrm>
          <a:custGeom>
            <a:avLst/>
            <a:gdLst/>
            <a:ahLst/>
            <a:cxnLst/>
            <a:rect l="l" t="t" r="r" b="b"/>
            <a:pathLst>
              <a:path w="5382003" h="3564082">
                <a:moveTo>
                  <a:pt x="0" y="0"/>
                </a:moveTo>
                <a:lnTo>
                  <a:pt x="5382004" y="0"/>
                </a:lnTo>
                <a:lnTo>
                  <a:pt x="5382004" y="3564083"/>
                </a:lnTo>
                <a:lnTo>
                  <a:pt x="0" y="35640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7" name="Freeform 7"/>
          <p:cNvSpPr/>
          <p:nvPr/>
        </p:nvSpPr>
        <p:spPr>
          <a:xfrm>
            <a:off x="9144000" y="6567950"/>
            <a:ext cx="6776253" cy="2904109"/>
          </a:xfrm>
          <a:custGeom>
            <a:avLst/>
            <a:gdLst/>
            <a:ahLst/>
            <a:cxnLst/>
            <a:rect l="l" t="t" r="r" b="b"/>
            <a:pathLst>
              <a:path w="6776253" h="2904109">
                <a:moveTo>
                  <a:pt x="0" y="0"/>
                </a:moveTo>
                <a:lnTo>
                  <a:pt x="6776253" y="0"/>
                </a:lnTo>
                <a:lnTo>
                  <a:pt x="6776253" y="2904109"/>
                </a:lnTo>
                <a:lnTo>
                  <a:pt x="0" y="29041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8" name="TextBox 8"/>
          <p:cNvSpPr txBox="1"/>
          <p:nvPr/>
        </p:nvSpPr>
        <p:spPr>
          <a:xfrm>
            <a:off x="351753" y="83604"/>
            <a:ext cx="11357792" cy="9727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25"/>
              </a:lnSpc>
            </a:pPr>
            <a:r>
              <a:rPr lang="en-US" sz="5661" b="1">
                <a:solidFill>
                  <a:srgbClr val="32323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3. Nội dung và cách triển khai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26209" y="1609866"/>
            <a:ext cx="9619492" cy="5496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00"/>
              </a:lnSpc>
            </a:pPr>
            <a:r>
              <a:rPr lang="en-US" sz="3071" b="1">
                <a:solidFill>
                  <a:srgbClr val="323232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3.5. Performance Benefits và Use Cases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986310" y="2831383"/>
            <a:ext cx="9053676" cy="415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57"/>
              </a:lnSpc>
              <a:spcBef>
                <a:spcPct val="0"/>
              </a:spcBef>
            </a:pPr>
            <a:r>
              <a:rPr lang="en-US" sz="2798">
                <a:solidFill>
                  <a:srgbClr val="323232"/>
                </a:solidFill>
                <a:latin typeface="Faustina"/>
                <a:ea typeface="Faustina"/>
                <a:cs typeface="Faustina"/>
                <a:sym typeface="Faustina"/>
              </a:rPr>
              <a:t>Reactive UI (Obx): Tự động cập nhật UI khi dữ liệu thay đổi.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144000" y="4767435"/>
            <a:ext cx="6280009" cy="840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57"/>
              </a:lnSpc>
              <a:spcBef>
                <a:spcPct val="0"/>
              </a:spcBef>
            </a:pPr>
            <a:r>
              <a:rPr lang="en-US" sz="2798">
                <a:solidFill>
                  <a:srgbClr val="323232"/>
                </a:solidFill>
                <a:latin typeface="Faustina"/>
                <a:ea typeface="Faustina"/>
                <a:cs typeface="Faustina"/>
                <a:sym typeface="Faustina"/>
              </a:rPr>
              <a:t>Trong CartPage, ProfilePage, HomePage đều dùng Obx() để lắng nghe biến .obs.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6771E-3604-BFC1-B53E-E1B416FDA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F30E249-5AA0-867E-B544-91EE39E6303D}"/>
              </a:ext>
            </a:extLst>
          </p:cNvPr>
          <p:cNvGrpSpPr/>
          <p:nvPr/>
        </p:nvGrpSpPr>
        <p:grpSpPr>
          <a:xfrm>
            <a:off x="0" y="0"/>
            <a:ext cx="18288000" cy="1028700"/>
            <a:chOff x="0" y="0"/>
            <a:chExt cx="4816593" cy="2709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CB2A02A-063C-C174-4944-2FBCFE93F371}"/>
                </a:ext>
              </a:extLst>
            </p:cNvPr>
            <p:cNvSpPr/>
            <p:nvPr/>
          </p:nvSpPr>
          <p:spPr>
            <a:xfrm>
              <a:off x="0" y="0"/>
              <a:ext cx="4816592" cy="270933"/>
            </a:xfrm>
            <a:custGeom>
              <a:avLst/>
              <a:gdLst/>
              <a:ahLst/>
              <a:cxnLst/>
              <a:rect l="l" t="t" r="r" b="b"/>
              <a:pathLst>
                <a:path w="4816592" h="270933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94B1C6"/>
            </a:solidFill>
          </p:spPr>
          <p:txBody>
            <a:bodyPr/>
            <a:lstStyle/>
            <a:p>
              <a:endParaRPr lang="vi-VN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BAA5D69B-9584-78F9-69C0-335550FFE35A}"/>
                </a:ext>
              </a:extLst>
            </p:cNvPr>
            <p:cNvSpPr txBox="1"/>
            <p:nvPr/>
          </p:nvSpPr>
          <p:spPr>
            <a:xfrm>
              <a:off x="0" y="-28575"/>
              <a:ext cx="4816593" cy="2995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3934DA94-72B6-3B80-6B5B-1C9C9F88507B}"/>
              </a:ext>
            </a:extLst>
          </p:cNvPr>
          <p:cNvSpPr txBox="1"/>
          <p:nvPr/>
        </p:nvSpPr>
        <p:spPr>
          <a:xfrm>
            <a:off x="7848600" y="4305820"/>
            <a:ext cx="9292891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287"/>
              </a:lnSpc>
              <a:spcBef>
                <a:spcPct val="0"/>
              </a:spcBef>
            </a:pPr>
            <a:r>
              <a:rPr lang="en-US" sz="3572" dirty="0" err="1">
                <a:solidFill>
                  <a:srgbClr val="323232"/>
                </a:solidFill>
                <a:latin typeface="Faustina"/>
                <a:ea typeface="Faustina"/>
                <a:cs typeface="Faustina"/>
                <a:sym typeface="Faustina"/>
              </a:rPr>
              <a:t>Ứng</a:t>
            </a:r>
            <a:r>
              <a:rPr lang="en-US" sz="3572" dirty="0">
                <a:solidFill>
                  <a:srgbClr val="323232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3572" dirty="0" err="1">
                <a:solidFill>
                  <a:srgbClr val="323232"/>
                </a:solidFill>
                <a:latin typeface="Faustina"/>
                <a:ea typeface="Faustina"/>
                <a:cs typeface="Faustina"/>
                <a:sym typeface="Faustina"/>
              </a:rPr>
              <a:t>dụng</a:t>
            </a:r>
            <a:r>
              <a:rPr lang="en-US" sz="3572" dirty="0">
                <a:solidFill>
                  <a:srgbClr val="323232"/>
                </a:solidFill>
                <a:latin typeface="Faustina"/>
                <a:ea typeface="Faustina"/>
                <a:cs typeface="Faustina"/>
                <a:sym typeface="Faustina"/>
              </a:rPr>
              <a:t> App </a:t>
            </a:r>
            <a:r>
              <a:rPr lang="en-US" sz="3572" dirty="0" err="1">
                <a:solidFill>
                  <a:srgbClr val="323232"/>
                </a:solidFill>
                <a:latin typeface="Faustina"/>
                <a:ea typeface="Faustina"/>
                <a:cs typeface="Faustina"/>
                <a:sym typeface="Faustina"/>
              </a:rPr>
              <a:t>bán</a:t>
            </a:r>
            <a:r>
              <a:rPr lang="en-US" sz="3572" dirty="0">
                <a:solidFill>
                  <a:srgbClr val="323232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3572" dirty="0" err="1">
                <a:solidFill>
                  <a:srgbClr val="323232"/>
                </a:solidFill>
                <a:latin typeface="Faustina"/>
                <a:ea typeface="Faustina"/>
                <a:cs typeface="Faustina"/>
                <a:sym typeface="Faustina"/>
              </a:rPr>
              <a:t>hàng</a:t>
            </a:r>
            <a:r>
              <a:rPr lang="en-US" sz="3572" dirty="0">
                <a:solidFill>
                  <a:srgbClr val="323232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3572" dirty="0" err="1">
                <a:solidFill>
                  <a:srgbClr val="323232"/>
                </a:solidFill>
                <a:latin typeface="Faustina"/>
                <a:ea typeface="Faustina"/>
                <a:cs typeface="Faustina"/>
                <a:sym typeface="Faustina"/>
              </a:rPr>
              <a:t>với</a:t>
            </a:r>
            <a:r>
              <a:rPr lang="en-US" sz="3572" dirty="0">
                <a:solidFill>
                  <a:srgbClr val="323232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3572" dirty="0" err="1">
                <a:solidFill>
                  <a:srgbClr val="323232"/>
                </a:solidFill>
                <a:latin typeface="Faustina"/>
                <a:ea typeface="Faustina"/>
                <a:cs typeface="Faustina"/>
                <a:sym typeface="Faustina"/>
              </a:rPr>
              <a:t>GetX</a:t>
            </a:r>
            <a:endParaRPr lang="en-US" sz="3572" dirty="0">
              <a:solidFill>
                <a:srgbClr val="323232"/>
              </a:solidFill>
              <a:latin typeface="Faustina"/>
              <a:ea typeface="Faustina"/>
              <a:cs typeface="Faustina"/>
              <a:sym typeface="Faustina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D5C2A3F-C9F9-8492-7164-A60A526D523C}"/>
              </a:ext>
            </a:extLst>
          </p:cNvPr>
          <p:cNvSpPr txBox="1"/>
          <p:nvPr/>
        </p:nvSpPr>
        <p:spPr>
          <a:xfrm>
            <a:off x="846885" y="1804969"/>
            <a:ext cx="12133725" cy="3217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just">
              <a:lnSpc>
                <a:spcPts val="8306"/>
              </a:lnSpc>
              <a:spcBef>
                <a:spcPct val="0"/>
              </a:spcBef>
            </a:pPr>
            <a:r>
              <a:rPr lang="en-US" sz="8306" dirty="0">
                <a:solidFill>
                  <a:srgbClr val="323232"/>
                </a:solidFill>
                <a:latin typeface="Faustina"/>
                <a:ea typeface="Faustina"/>
                <a:cs typeface="Faustina"/>
                <a:sym typeface="Faustina"/>
              </a:rPr>
              <a:t>SỬ DỤNG GETX TRONG STATE MANAGEMENT VÀ NAVIGATION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E2FAFADA-4056-DE69-0E3D-0B38A738D085}"/>
              </a:ext>
            </a:extLst>
          </p:cNvPr>
          <p:cNvSpPr txBox="1"/>
          <p:nvPr/>
        </p:nvSpPr>
        <p:spPr>
          <a:xfrm>
            <a:off x="1091821" y="5240151"/>
            <a:ext cx="2963115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3000" b="1" dirty="0" err="1">
                <a:solidFill>
                  <a:srgbClr val="323232"/>
                </a:solidFill>
                <a:latin typeface="Faustina"/>
                <a:ea typeface="Faustina"/>
                <a:cs typeface="Faustina"/>
                <a:sym typeface="Faustina"/>
              </a:rPr>
              <a:t>Nguồn</a:t>
            </a:r>
            <a:r>
              <a:rPr lang="en-US" sz="3000" b="1" dirty="0">
                <a:solidFill>
                  <a:srgbClr val="323232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3000" b="1" dirty="0" err="1">
                <a:solidFill>
                  <a:srgbClr val="323232"/>
                </a:solidFill>
                <a:latin typeface="Faustina"/>
                <a:ea typeface="Faustina"/>
                <a:cs typeface="Faustina"/>
                <a:sym typeface="Faustina"/>
              </a:rPr>
              <a:t>tham</a:t>
            </a:r>
            <a:r>
              <a:rPr lang="en-US" sz="3000" b="1" dirty="0">
                <a:solidFill>
                  <a:srgbClr val="323232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3000" b="1" dirty="0" err="1">
                <a:solidFill>
                  <a:srgbClr val="323232"/>
                </a:solidFill>
                <a:latin typeface="Faustina"/>
                <a:ea typeface="Faustina"/>
                <a:cs typeface="Faustina"/>
                <a:sym typeface="Faustina"/>
              </a:rPr>
              <a:t>khảo</a:t>
            </a:r>
            <a:endParaRPr lang="en-US" sz="3000" b="1" dirty="0">
              <a:solidFill>
                <a:srgbClr val="323232"/>
              </a:solidFill>
              <a:latin typeface="Faustina"/>
              <a:ea typeface="Faustina"/>
              <a:cs typeface="Faustina"/>
              <a:sym typeface="Faustina"/>
            </a:endParaRPr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65C3AD43-58AF-3FC7-5D96-D0EBADAA41EF}"/>
              </a:ext>
            </a:extLst>
          </p:cNvPr>
          <p:cNvSpPr txBox="1"/>
          <p:nvPr/>
        </p:nvSpPr>
        <p:spPr>
          <a:xfrm>
            <a:off x="1066800" y="6133556"/>
            <a:ext cx="15846091" cy="4204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3600"/>
              </a:lnSpc>
              <a:spcBef>
                <a:spcPct val="0"/>
              </a:spcBef>
            </a:pPr>
            <a:r>
              <a:rPr lang="en-US" sz="2800" dirty="0">
                <a:latin typeface="Faustina" panose="020B0604020202020204" charset="0"/>
              </a:rPr>
              <a:t>E-Commerce App built in flutter using </a:t>
            </a:r>
            <a:r>
              <a:rPr lang="en-US" sz="2800" dirty="0" err="1">
                <a:latin typeface="Faustina" panose="020B0604020202020204" charset="0"/>
              </a:rPr>
              <a:t>GetX</a:t>
            </a:r>
            <a:r>
              <a:rPr lang="en-US" sz="2800" dirty="0">
                <a:latin typeface="Faustina" panose="020B0604020202020204" charset="0"/>
              </a:rPr>
              <a:t>: </a:t>
            </a:r>
            <a:r>
              <a:rPr lang="en-US" sz="2800" dirty="0">
                <a:latin typeface="Faustina" panose="020B0604020202020204" charset="0"/>
                <a:hlinkClick r:id="rId2"/>
              </a:rPr>
              <a:t>https://github.com/SinaSys/flutter_ecommerce_app</a:t>
            </a:r>
            <a:r>
              <a:rPr lang="en-US" sz="2800" dirty="0">
                <a:latin typeface="Faustina" panose="020B0604020202020204" charset="0"/>
              </a:rPr>
              <a:t> </a:t>
            </a:r>
            <a:endParaRPr lang="en-US" sz="2800" dirty="0">
              <a:solidFill>
                <a:srgbClr val="323232"/>
              </a:solidFill>
              <a:latin typeface="Faustina" panose="020B0604020202020204" charset="0"/>
              <a:ea typeface="Faustina"/>
              <a:cs typeface="Faustina"/>
              <a:sym typeface="Faustina"/>
            </a:endParaRPr>
          </a:p>
        </p:txBody>
      </p:sp>
      <p:sp>
        <p:nvSpPr>
          <p:cNvPr id="11" name="TextBox 8">
            <a:extLst>
              <a:ext uri="{FF2B5EF4-FFF2-40B4-BE49-F238E27FC236}">
                <a16:creationId xmlns:a16="http://schemas.microsoft.com/office/drawing/2014/main" id="{1E20A6DE-348C-7C3E-C86C-1B9DA08DB247}"/>
              </a:ext>
            </a:extLst>
          </p:cNvPr>
          <p:cNvSpPr txBox="1"/>
          <p:nvPr/>
        </p:nvSpPr>
        <p:spPr>
          <a:xfrm>
            <a:off x="1102057" y="6772074"/>
            <a:ext cx="15846091" cy="8821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3600"/>
              </a:lnSpc>
              <a:spcBef>
                <a:spcPct val="0"/>
              </a:spcBef>
            </a:pPr>
            <a:r>
              <a:rPr lang="vi-VN" sz="2800" dirty="0">
                <a:latin typeface="Faustina" panose="020B0604020202020204" charset="0"/>
              </a:rPr>
              <a:t>Open screens/snackbars/dialogs/bottomSheets without context, manage states and inject dependencies easily with Get</a:t>
            </a:r>
            <a:r>
              <a:rPr lang="en-US" sz="2800" dirty="0">
                <a:latin typeface="Faustina" panose="020B0604020202020204" charset="0"/>
              </a:rPr>
              <a:t>: </a:t>
            </a:r>
            <a:r>
              <a:rPr lang="en-US" sz="2800" dirty="0">
                <a:latin typeface="Faustina" panose="020B0604020202020204" charset="0"/>
                <a:hlinkClick r:id="rId3"/>
              </a:rPr>
              <a:t>https://github.com/jonataslaw/getx</a:t>
            </a:r>
            <a:endParaRPr lang="en-US" sz="2800" dirty="0">
              <a:solidFill>
                <a:srgbClr val="323232"/>
              </a:solidFill>
              <a:latin typeface="Faustina" panose="020B0604020202020204" charset="0"/>
              <a:ea typeface="Faustina"/>
              <a:cs typeface="Faustina"/>
              <a:sym typeface="Faustina"/>
            </a:endParaRPr>
          </a:p>
        </p:txBody>
      </p:sp>
      <p:sp>
        <p:nvSpPr>
          <p:cNvPr id="12" name="TextBox 8">
            <a:extLst>
              <a:ext uri="{FF2B5EF4-FFF2-40B4-BE49-F238E27FC236}">
                <a16:creationId xmlns:a16="http://schemas.microsoft.com/office/drawing/2014/main" id="{419D896F-049E-BC5D-39DC-5EB7FC907A95}"/>
              </a:ext>
            </a:extLst>
          </p:cNvPr>
          <p:cNvSpPr txBox="1"/>
          <p:nvPr/>
        </p:nvSpPr>
        <p:spPr>
          <a:xfrm>
            <a:off x="1113430" y="8036270"/>
            <a:ext cx="14760054" cy="8821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3600"/>
              </a:lnSpc>
              <a:spcBef>
                <a:spcPct val="0"/>
              </a:spcBef>
            </a:pPr>
            <a:r>
              <a:rPr lang="vi-VN" sz="2800" b="1" dirty="0">
                <a:latin typeface="Faustina" panose="020B0604020202020204" charset="0"/>
              </a:rPr>
              <a:t>Flutter</a:t>
            </a:r>
            <a:r>
              <a:rPr lang="vi-VN" sz="2800" dirty="0">
                <a:latin typeface="Faustina" panose="020B0604020202020204" charset="0"/>
              </a:rPr>
              <a:t> e-commerce app example with </a:t>
            </a:r>
            <a:r>
              <a:rPr lang="vi-VN" sz="2800" b="1" dirty="0">
                <a:latin typeface="Faustina" panose="020B0604020202020204" charset="0"/>
              </a:rPr>
              <a:t>GetX</a:t>
            </a:r>
            <a:r>
              <a:rPr lang="en-US" sz="2800" b="1" dirty="0">
                <a:latin typeface="Faustina" panose="020B0604020202020204" charset="0"/>
              </a:rPr>
              <a:t>: </a:t>
            </a:r>
            <a:r>
              <a:rPr lang="en-US" sz="2800" b="1" dirty="0">
                <a:latin typeface="Faustina" panose="020B0604020202020204" charset="0"/>
                <a:hlinkClick r:id="rId4"/>
              </a:rPr>
              <a:t>https://github.com/afgprogrammer/Flutter-ecommerce-app-with-getx</a:t>
            </a:r>
            <a:r>
              <a:rPr lang="en-US" sz="2800" b="1" dirty="0">
                <a:latin typeface="Faustina" panose="020B0604020202020204" charset="0"/>
              </a:rPr>
              <a:t> </a:t>
            </a:r>
            <a:endParaRPr lang="en-US" sz="2800" dirty="0">
              <a:solidFill>
                <a:srgbClr val="323232"/>
              </a:solidFill>
              <a:latin typeface="Faustina" panose="020B0604020202020204" charset="0"/>
              <a:ea typeface="Faustina"/>
              <a:cs typeface="Faustina"/>
              <a:sym typeface="Faustina"/>
            </a:endParaRPr>
          </a:p>
        </p:txBody>
      </p:sp>
      <p:sp>
        <p:nvSpPr>
          <p:cNvPr id="13" name="TextBox 8">
            <a:extLst>
              <a:ext uri="{FF2B5EF4-FFF2-40B4-BE49-F238E27FC236}">
                <a16:creationId xmlns:a16="http://schemas.microsoft.com/office/drawing/2014/main" id="{BBCD3F4F-CB81-D95D-E35E-1694532AA20F}"/>
              </a:ext>
            </a:extLst>
          </p:cNvPr>
          <p:cNvSpPr txBox="1"/>
          <p:nvPr/>
        </p:nvSpPr>
        <p:spPr>
          <a:xfrm>
            <a:off x="1113430" y="9181929"/>
            <a:ext cx="15846091" cy="4204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3600"/>
              </a:lnSpc>
              <a:spcBef>
                <a:spcPct val="0"/>
              </a:spcBef>
            </a:pPr>
            <a:r>
              <a:rPr lang="vi-VN" sz="2800" b="1" dirty="0">
                <a:latin typeface="Faustina" panose="020B0604020202020204" charset="0"/>
              </a:rPr>
              <a:t>Flutter</a:t>
            </a:r>
            <a:r>
              <a:rPr lang="vi-VN" sz="2800" dirty="0">
                <a:latin typeface="Faustina" panose="020B0604020202020204" charset="0"/>
              </a:rPr>
              <a:t> Ecommerce app with </a:t>
            </a:r>
            <a:r>
              <a:rPr lang="vi-VN" sz="2800" b="1" dirty="0">
                <a:latin typeface="Faustina" panose="020B0604020202020204" charset="0"/>
              </a:rPr>
              <a:t>GetX</a:t>
            </a:r>
            <a:r>
              <a:rPr lang="en-US" sz="2800" b="1" dirty="0">
                <a:latin typeface="Faustina" panose="020B0604020202020204" charset="0"/>
              </a:rPr>
              <a:t>:  </a:t>
            </a:r>
            <a:r>
              <a:rPr lang="en-US" sz="2800" b="1" dirty="0">
                <a:latin typeface="Faustina" panose="020B0604020202020204" charset="0"/>
                <a:hlinkClick r:id="rId5"/>
              </a:rPr>
              <a:t>https://github.com/edilsonmatola/habitual-ecommerce-app-getx</a:t>
            </a:r>
            <a:endParaRPr lang="en-US" sz="2800" dirty="0">
              <a:solidFill>
                <a:srgbClr val="323232"/>
              </a:solidFill>
              <a:latin typeface="Faustina" panose="020B0604020202020204" charset="0"/>
              <a:ea typeface="Faustina"/>
              <a:cs typeface="Faustina"/>
              <a:sym typeface="Faustina"/>
            </a:endParaRPr>
          </a:p>
        </p:txBody>
      </p:sp>
    </p:spTree>
    <p:extLst>
      <p:ext uri="{BB962C8B-B14F-4D97-AF65-F5344CB8AC3E}">
        <p14:creationId xmlns:p14="http://schemas.microsoft.com/office/powerpoint/2010/main" val="16116150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561063-672B-43D6-5795-6DA6DD202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74E929C-1870-820D-150A-DE6E2903537A}"/>
              </a:ext>
            </a:extLst>
          </p:cNvPr>
          <p:cNvGrpSpPr/>
          <p:nvPr/>
        </p:nvGrpSpPr>
        <p:grpSpPr>
          <a:xfrm>
            <a:off x="0" y="0"/>
            <a:ext cx="18288000" cy="1028700"/>
            <a:chOff x="0" y="0"/>
            <a:chExt cx="4816593" cy="2709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079B6607-4C41-D480-B98E-FD3A1508A5DF}"/>
                </a:ext>
              </a:extLst>
            </p:cNvPr>
            <p:cNvSpPr/>
            <p:nvPr/>
          </p:nvSpPr>
          <p:spPr>
            <a:xfrm>
              <a:off x="0" y="0"/>
              <a:ext cx="4816592" cy="270933"/>
            </a:xfrm>
            <a:custGeom>
              <a:avLst/>
              <a:gdLst/>
              <a:ahLst/>
              <a:cxnLst/>
              <a:rect l="l" t="t" r="r" b="b"/>
              <a:pathLst>
                <a:path w="4816592" h="270933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94B1C6"/>
            </a:solidFill>
          </p:spPr>
          <p:txBody>
            <a:bodyPr/>
            <a:lstStyle/>
            <a:p>
              <a:endParaRPr lang="vi-VN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6B2277AD-EAAD-5BBF-7C9C-1B0C424F9107}"/>
                </a:ext>
              </a:extLst>
            </p:cNvPr>
            <p:cNvSpPr txBox="1"/>
            <p:nvPr/>
          </p:nvSpPr>
          <p:spPr>
            <a:xfrm>
              <a:off x="0" y="-28575"/>
              <a:ext cx="4816593" cy="2995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7" name="TextBox 7">
            <a:extLst>
              <a:ext uri="{FF2B5EF4-FFF2-40B4-BE49-F238E27FC236}">
                <a16:creationId xmlns:a16="http://schemas.microsoft.com/office/drawing/2014/main" id="{708E394F-296B-A933-14D1-AF7B01ACA532}"/>
              </a:ext>
            </a:extLst>
          </p:cNvPr>
          <p:cNvSpPr txBox="1"/>
          <p:nvPr/>
        </p:nvSpPr>
        <p:spPr>
          <a:xfrm>
            <a:off x="4495800" y="4838700"/>
            <a:ext cx="12133725" cy="10643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just">
              <a:lnSpc>
                <a:spcPts val="8306"/>
              </a:lnSpc>
              <a:spcBef>
                <a:spcPct val="0"/>
              </a:spcBef>
            </a:pPr>
            <a:r>
              <a:rPr lang="en-US" sz="8306" dirty="0" err="1">
                <a:solidFill>
                  <a:srgbClr val="323232"/>
                </a:solidFill>
                <a:latin typeface="Faustina"/>
                <a:ea typeface="Faustina"/>
                <a:cs typeface="Faustina"/>
                <a:sym typeface="Faustina"/>
              </a:rPr>
              <a:t>Cảm</a:t>
            </a:r>
            <a:r>
              <a:rPr lang="en-US" sz="8306" dirty="0">
                <a:solidFill>
                  <a:srgbClr val="323232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8306" dirty="0" err="1">
                <a:solidFill>
                  <a:srgbClr val="323232"/>
                </a:solidFill>
                <a:latin typeface="Faustina"/>
                <a:ea typeface="Faustina"/>
                <a:cs typeface="Faustina"/>
                <a:sym typeface="Faustina"/>
              </a:rPr>
              <a:t>ơn</a:t>
            </a:r>
            <a:r>
              <a:rPr lang="en-US" sz="8306" dirty="0">
                <a:solidFill>
                  <a:srgbClr val="323232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8306" dirty="0" err="1">
                <a:solidFill>
                  <a:srgbClr val="323232"/>
                </a:solidFill>
                <a:latin typeface="Faustina"/>
                <a:ea typeface="Faustina"/>
                <a:cs typeface="Faustina"/>
                <a:sym typeface="Faustina"/>
              </a:rPr>
              <a:t>đã</a:t>
            </a:r>
            <a:r>
              <a:rPr lang="en-US" sz="8306" dirty="0">
                <a:solidFill>
                  <a:srgbClr val="323232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8306" dirty="0" err="1">
                <a:solidFill>
                  <a:srgbClr val="323232"/>
                </a:solidFill>
                <a:latin typeface="Faustina"/>
                <a:ea typeface="Faustina"/>
                <a:cs typeface="Faustina"/>
                <a:sym typeface="Faustina"/>
              </a:rPr>
              <a:t>lắng</a:t>
            </a:r>
            <a:r>
              <a:rPr lang="en-US" sz="8306" dirty="0">
                <a:solidFill>
                  <a:srgbClr val="323232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8306" dirty="0" err="1">
                <a:solidFill>
                  <a:srgbClr val="323232"/>
                </a:solidFill>
                <a:latin typeface="Faustina"/>
                <a:ea typeface="Faustina"/>
                <a:cs typeface="Faustina"/>
                <a:sym typeface="Faustina"/>
              </a:rPr>
              <a:t>nghe</a:t>
            </a:r>
            <a:endParaRPr lang="en-US" sz="8306" dirty="0">
              <a:solidFill>
                <a:srgbClr val="323232"/>
              </a:solidFill>
              <a:latin typeface="Faustina"/>
              <a:ea typeface="Faustina"/>
              <a:cs typeface="Faustina"/>
              <a:sym typeface="Faustina"/>
            </a:endParaRPr>
          </a:p>
        </p:txBody>
      </p:sp>
    </p:spTree>
    <p:extLst>
      <p:ext uri="{BB962C8B-B14F-4D97-AF65-F5344CB8AC3E}">
        <p14:creationId xmlns:p14="http://schemas.microsoft.com/office/powerpoint/2010/main" val="5680720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1332</Words>
  <Application>Microsoft Office PowerPoint</Application>
  <PresentationFormat>Custom</PresentationFormat>
  <Paragraphs>134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Faustina</vt:lpstr>
      <vt:lpstr>Noto Sans Bold</vt:lpstr>
      <vt:lpstr>DejaVu Serif Bold</vt:lpstr>
      <vt:lpstr>Faustina Bold</vt:lpstr>
      <vt:lpstr>Noto Serif Display Bold Italics</vt:lpstr>
      <vt:lpstr>Calibri</vt:lpstr>
      <vt:lpstr>Arial</vt:lpstr>
      <vt:lpstr>Noto Serif Display Italics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Thêm tiêu đề</dc:title>
  <cp:lastModifiedBy>Nguyễn Hồng Ân</cp:lastModifiedBy>
  <cp:revision>2</cp:revision>
  <dcterms:created xsi:type="dcterms:W3CDTF">2006-08-16T00:00:00Z</dcterms:created>
  <dcterms:modified xsi:type="dcterms:W3CDTF">2025-11-10T11:15:53Z</dcterms:modified>
  <dc:identifier>DAG4FtBCJaM</dc:identifier>
</cp:coreProperties>
</file>